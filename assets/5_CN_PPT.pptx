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BD75503-78B6-FCFD-C2F1-AF38355601D5}">
          <p14:sldIdLst>
            <p14:sldId id="256"/>
            <p14:sldId id="257"/>
          </p14:sldIdLst>
        </p14:section>
        <p14:section name="Design" id="{FFBC331B-AACD-39FB-0E9C-16954A979945}">
          <p14:sldIdLst>
            <p14:sldId id="258"/>
            <p14:sldId id="259"/>
            <p14:sldId id="260"/>
            <p14:sldId id="261"/>
          </p14:sldIdLst>
        </p14:section>
        <p14:section name="Build" id="{6D5F1CC0-0F3A-E6A8-1D4A-FACDA60DEEEC}">
          <p14:sldIdLst>
            <p14:sldId id="262"/>
            <p14:sldId id="263"/>
            <p14:sldId id="264"/>
          </p14:sldIdLst>
        </p14:section>
        <p14:section name="Results" id="{C3E218D5-C58C-AC5B-2EC8-385C01EBB7E1}">
          <p14:sldIdLst>
            <p14:sldId id="265"/>
            <p14:sldId id="266"/>
            <p14:sldId id="267"/>
          </p14:sldIdLst>
        </p14:section>
        <p14:section name="Wrap-up" id="{1531E593-0E7D-5FD8-1AFD-F9B94035F9DF}">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2096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seconds. Introduce the project title and the team only; do not read out every PRN.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One-sentence overview: a web dashboard for packet captures, with transparent flags and optional AI-assisted browser automation. It is an educational tool, not a full intrusion detection system.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Packet captures are large and mixed; beginners need a fast summary. State the three objectives briefly: parse, summarize, flag and automate.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(optional). Be clear about what Nethryx does and does not do: it does not decrypt TLS, prove malicious intent or replace an IDS/IPS, and analysis state is held in memory.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Walk left to right: the React dashboard talks to the FastAPI backend over HTTP and WebSocket. The backend feeds Scapy for PCAP analysis and the live sniffer. Automation tasks go to Playwright, which uses Groq over HTTPS for planning.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Name the stack at a glance. Mention that HTTP carries uploads and REST calls, WebSocket carries live automation events, and the dev setup runs on localhost ports 5173 and 8000.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Offline flow: upload, validate, parse with Scapy, classify protocols, aggregate, render. AI flow: the prompt goes to Groq for a JSON plan, steps are validated against allowed sites and actions, Playwright runs them, and live capture is optional.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(optional). Summarize the setup: install Python and Node, create the backend environment, configure the Groq key on the backend only, start the API and UI, and on Windows install Npcap for live capture.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Explain the limits and the two transparent rules. Stress that flags are indicators for a human to interpret, not proof of an attack.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Be honest: the test plan is defined and the validation paths exist in code, but runtime outcomes are recorded live. Do not quote figures that were not observed.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Prepare the project before the timer starts. Upload a real capture, then explain totals, protocol chart, hosts, timeline and flags. Keep a screenshot or short recording as a backup and say so if you use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(optional). Three setup issues from the report: backend unreachable, AI planning failing, and live capture unavailable on Windows. Replace or add the real issues the team hit.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Summarize the outcome, the educational use, and be upfront about limitations. Mention AI use: Groq plans browser steps and answers capture questions, and outputs are checked against extracted statistics.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X_TITL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X_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4736592"/>
            <a:ext cx="5486400" cy="274320"/>
          </a:xfrm>
          <a:prstGeom prst="rect">
            <a:avLst/>
          </a:prstGeom>
          <a:noFill/>
          <a:ln/>
        </p:spPr>
        <p:txBody>
          <a:bodyPr wrap="square" lIns="0" tIns="0" rIns="0" bIns="0" rtlCol="0" anchor="ctr"/>
          <a:lstStyle/>
          <a:p>
            <a:pPr marL="0" indent="0">
              <a:buNone/>
            </a:pPr>
            <a:r>
              <a:rPr lang="en-US" sz="1000" dirty="0">
                <a:solidFill>
                  <a:schemeClr val="tx2"/>
                </a:solidFill>
              </a:rPr>
              <a:t>Nethryx  ·  Computer Networks Laboratory (CSE20110)</a:t>
            </a:r>
            <a:endParaRPr lang="en-US" sz="1000" dirty="0"/>
          </a:p>
        </p:txBody>
      </p:sp>
      <p:sp>
        <p:nvSpPr>
          <p:cNvPr id="25"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ng 1"/>
          <p:cNvSpPr/>
          <p:nvPr/>
        </p:nvSpPr>
        <p:spPr>
          <a:xfrm>
            <a:off x="5577840" y="542310"/>
            <a:ext cx="4023360" cy="4023360"/>
          </a:xfrm>
          <a:prstGeom prst="ellipse">
            <a:avLst/>
          </a:prstGeom>
          <a:ln w="12700">
            <a:solidFill>
              <a:schemeClr val="accent3"/>
            </a:solidFill>
            <a:prstDash val="solid"/>
          </a:ln>
        </p:spPr>
      </p:sp>
      <p:sp>
        <p:nvSpPr>
          <p:cNvPr id="3" name="Ring 2"/>
          <p:cNvSpPr/>
          <p:nvPr/>
        </p:nvSpPr>
        <p:spPr>
          <a:xfrm>
            <a:off x="6217920" y="1188720"/>
            <a:ext cx="2743200" cy="2743200"/>
          </a:xfrm>
          <a:prstGeom prst="ellipse">
            <a:avLst/>
          </a:prstGeom>
          <a:ln w="12700">
            <a:solidFill>
              <a:schemeClr val="accent3"/>
            </a:solidFill>
            <a:prstDash val="solid"/>
          </a:ln>
        </p:spPr>
      </p:sp>
      <p:sp>
        <p:nvSpPr>
          <p:cNvPr id="4" name="Ring 3"/>
          <p:cNvSpPr/>
          <p:nvPr/>
        </p:nvSpPr>
        <p:spPr>
          <a:xfrm>
            <a:off x="6858000" y="1828800"/>
            <a:ext cx="1463040" cy="1463040"/>
          </a:xfrm>
          <a:prstGeom prst="ellipse">
            <a:avLst/>
          </a:prstGeom>
          <a:ln w="12700">
            <a:solidFill>
              <a:schemeClr val="accent3"/>
            </a:solidFill>
            <a:prstDash val="solid"/>
          </a:ln>
        </p:spPr>
      </p:sp>
      <p:sp>
        <p:nvSpPr>
          <p:cNvPr id="5" name="Node 1"/>
          <p:cNvSpPr/>
          <p:nvPr/>
        </p:nvSpPr>
        <p:spPr>
          <a:xfrm>
            <a:off x="8028432" y="1975104"/>
            <a:ext cx="146304" cy="146304"/>
          </a:xfrm>
          <a:prstGeom prst="ellipse">
            <a:avLst/>
          </a:prstGeom>
          <a:solidFill>
            <a:schemeClr val="accent1"/>
          </a:solidFill>
          <a:ln w="12700">
            <a:solidFill>
              <a:schemeClr val="accent1"/>
            </a:solidFill>
            <a:prstDash val="solid"/>
          </a:ln>
        </p:spPr>
      </p:sp>
      <p:sp>
        <p:nvSpPr>
          <p:cNvPr id="6" name="Node 2"/>
          <p:cNvSpPr/>
          <p:nvPr/>
        </p:nvSpPr>
        <p:spPr>
          <a:xfrm>
            <a:off x="6281928" y="3076956"/>
            <a:ext cx="146304" cy="146304"/>
          </a:xfrm>
          <a:prstGeom prst="ellipse">
            <a:avLst/>
          </a:prstGeom>
          <a:solidFill>
            <a:schemeClr val="accent1"/>
          </a:solidFill>
          <a:ln w="12700">
            <a:solidFill>
              <a:schemeClr val="accent1"/>
            </a:solidFill>
            <a:prstDash val="solid"/>
          </a:ln>
        </p:spPr>
      </p:sp>
      <p:sp>
        <p:nvSpPr>
          <p:cNvPr id="7" name="Node 3"/>
          <p:cNvSpPr/>
          <p:nvPr/>
        </p:nvSpPr>
        <p:spPr>
          <a:xfrm>
            <a:off x="8119872" y="4398264"/>
            <a:ext cx="146304" cy="146304"/>
          </a:xfrm>
          <a:prstGeom prst="ellipse">
            <a:avLst/>
          </a:prstGeom>
          <a:solidFill>
            <a:schemeClr val="accent1"/>
          </a:solidFill>
          <a:ln w="12700">
            <a:solidFill>
              <a:schemeClr val="accent1"/>
            </a:solidFill>
            <a:prstDash val="solid"/>
          </a:ln>
        </p:spPr>
      </p:sp>
      <p:pic>
        <p:nvPicPr>
          <p:cNvPr id="8" name="University logo" descr="MIT World Peace University logo"/>
          <p:cNvPicPr>
            <a:picLocks noChangeAspect="1"/>
          </p:cNvPicPr>
          <p:nvPr/>
        </p:nvPicPr>
        <p:blipFill>
          <a:blip r:embed="rId3"/>
          <a:stretch>
            <a:fillRect/>
          </a:stretch>
        </p:blipFill>
        <p:spPr>
          <a:xfrm>
            <a:off x="548640" y="411480"/>
            <a:ext cx="2377440" cy="683971"/>
          </a:xfrm>
          <a:prstGeom prst="rect">
            <a:avLst/>
          </a:prstGeom>
        </p:spPr>
      </p:pic>
      <p:sp>
        <p:nvSpPr>
          <p:cNvPr id="9" name="Title"/>
          <p:cNvSpPr txBox="1"/>
          <p:nvPr/>
        </p:nvSpPr>
        <p:spPr>
          <a:xfrm>
            <a:off x="548640" y="1371600"/>
            <a:ext cx="5486400" cy="914400"/>
          </a:xfrm>
          <a:prstGeom prst="rect">
            <a:avLst/>
          </a:prstGeom>
          <a:noFill/>
          <a:ln/>
        </p:spPr>
        <p:txBody>
          <a:bodyPr wrap="square" lIns="0" tIns="0" rIns="0" bIns="0" rtlCol="0" anchor="ctr"/>
          <a:lstStyle/>
          <a:p>
            <a:pPr marL="0" indent="0">
              <a:buNone/>
            </a:pPr>
            <a:r>
              <a:rPr lang="en-US" sz="6000" b="1" dirty="0">
                <a:solidFill>
                  <a:schemeClr val="tx1"/>
                </a:solidFill>
              </a:rPr>
              <a:t>Nethryx</a:t>
            </a:r>
            <a:endParaRPr lang="en-US" sz="6000" dirty="0"/>
          </a:p>
        </p:txBody>
      </p:sp>
      <p:sp>
        <p:nvSpPr>
          <p:cNvPr id="10" name="Subtitle"/>
          <p:cNvSpPr txBox="1"/>
          <p:nvPr/>
        </p:nvSpPr>
        <p:spPr>
          <a:xfrm>
            <a:off x="548640" y="2286000"/>
            <a:ext cx="5669280" cy="457200"/>
          </a:xfrm>
          <a:prstGeom prst="rect">
            <a:avLst/>
          </a:prstGeom>
          <a:noFill/>
          <a:ln/>
        </p:spPr>
        <p:txBody>
          <a:bodyPr wrap="square" lIns="0" tIns="0" rIns="0" bIns="0" rtlCol="0" anchor="ctr"/>
          <a:lstStyle/>
          <a:p>
            <a:pPr marL="0" indent="0">
              <a:buNone/>
            </a:pPr>
            <a:r>
              <a:rPr lang="en-US" sz="2400" dirty="0">
                <a:solidFill>
                  <a:schemeClr val="accent1"/>
                </a:solidFill>
              </a:rPr>
              <a:t>Network Packet Analyzer Dashboard</a:t>
            </a:r>
            <a:endParaRPr lang="en-US" sz="2400" dirty="0"/>
          </a:p>
        </p:txBody>
      </p:sp>
      <p:sp>
        <p:nvSpPr>
          <p:cNvPr id="11" name="Course"/>
          <p:cNvSpPr txBox="1"/>
          <p:nvPr/>
        </p:nvSpPr>
        <p:spPr>
          <a:xfrm>
            <a:off x="548640" y="2743200"/>
            <a:ext cx="6400800" cy="320040"/>
          </a:xfrm>
          <a:prstGeom prst="rect">
            <a:avLst/>
          </a:prstGeom>
          <a:noFill/>
          <a:ln/>
        </p:spPr>
        <p:txBody>
          <a:bodyPr wrap="square" lIns="0" tIns="0" rIns="0" bIns="0" rtlCol="0" anchor="ctr"/>
          <a:lstStyle/>
          <a:p>
            <a:pPr marL="0" indent="0">
              <a:buNone/>
            </a:pPr>
            <a:r>
              <a:rPr lang="en-US" sz="1400" dirty="0">
                <a:solidFill>
                  <a:schemeClr val="tx2"/>
                </a:solidFill>
              </a:rPr>
              <a:t>Mini-project presentation  ·  Computer Networks Laboratory (CSE20110)</a:t>
            </a:r>
            <a:endParaRPr lang="en-US" sz="1400" dirty="0"/>
          </a:p>
        </p:txBody>
      </p:sp>
      <p:sp>
        <p:nvSpPr>
          <p:cNvPr id="12" name="Team label"/>
          <p:cNvSpPr txBox="1"/>
          <p:nvPr/>
        </p:nvSpPr>
        <p:spPr>
          <a:xfrm>
            <a:off x="548640" y="3291840"/>
            <a:ext cx="18288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TEAM</a:t>
            </a:r>
            <a:endParaRPr lang="en-US" sz="1100" dirty="0"/>
          </a:p>
        </p:txBody>
      </p:sp>
      <p:sp>
        <p:nvSpPr>
          <p:cNvPr id="13" name="Member 1"/>
          <p:cNvSpPr txBox="1"/>
          <p:nvPr/>
        </p:nvSpPr>
        <p:spPr>
          <a:xfrm>
            <a:off x="548640" y="3584448"/>
            <a:ext cx="2834640" cy="274320"/>
          </a:xfrm>
          <a:prstGeom prst="rect">
            <a:avLst/>
          </a:prstGeom>
          <a:noFill/>
          <a:ln/>
        </p:spPr>
        <p:txBody>
          <a:bodyPr wrap="square" lIns="0" tIns="0" rIns="0" bIns="0" rtlCol="0" anchor="ctr"/>
          <a:lstStyle/>
          <a:p>
            <a:pPr marL="0" indent="0">
              <a:buNone/>
            </a:pPr>
            <a:r>
              <a:rPr lang="en-US" sz="1400" b="1" dirty="0">
                <a:solidFill>
                  <a:schemeClr val="tx1"/>
                </a:solidFill>
              </a:rPr>
              <a:t>Krish Bhensdadia</a:t>
            </a:r>
            <a:r>
              <a:rPr lang="en-US" sz="1400" dirty="0">
                <a:solidFill>
                  <a:schemeClr val="tx2"/>
                </a:solidFill>
              </a:rPr>
              <a:t>   1262250028</a:t>
            </a:r>
            <a:endParaRPr lang="en-US" sz="1400" dirty="0"/>
          </a:p>
        </p:txBody>
      </p:sp>
      <p:sp>
        <p:nvSpPr>
          <p:cNvPr id="14" name="Member 2"/>
          <p:cNvSpPr txBox="1"/>
          <p:nvPr/>
        </p:nvSpPr>
        <p:spPr>
          <a:xfrm>
            <a:off x="3474720" y="3584448"/>
            <a:ext cx="2834640" cy="274320"/>
          </a:xfrm>
          <a:prstGeom prst="rect">
            <a:avLst/>
          </a:prstGeom>
          <a:noFill/>
          <a:ln/>
        </p:spPr>
        <p:txBody>
          <a:bodyPr wrap="square" lIns="0" tIns="0" rIns="0" bIns="0" rtlCol="0" anchor="ctr"/>
          <a:lstStyle/>
          <a:p>
            <a:pPr marL="0" indent="0">
              <a:buNone/>
            </a:pPr>
            <a:r>
              <a:rPr lang="en-US" sz="1400" b="1" dirty="0">
                <a:solidFill>
                  <a:schemeClr val="tx1"/>
                </a:solidFill>
              </a:rPr>
              <a:t>Pooja Shah</a:t>
            </a:r>
            <a:r>
              <a:rPr lang="en-US" sz="1400" dirty="0">
                <a:solidFill>
                  <a:schemeClr val="tx2"/>
                </a:solidFill>
              </a:rPr>
              <a:t>   1262251181</a:t>
            </a:r>
            <a:endParaRPr lang="en-US" sz="1400" dirty="0"/>
          </a:p>
        </p:txBody>
      </p:sp>
      <p:sp>
        <p:nvSpPr>
          <p:cNvPr id="15" name="Member 3"/>
          <p:cNvSpPr txBox="1"/>
          <p:nvPr/>
        </p:nvSpPr>
        <p:spPr>
          <a:xfrm>
            <a:off x="548640" y="3904488"/>
            <a:ext cx="2834640" cy="274320"/>
          </a:xfrm>
          <a:prstGeom prst="rect">
            <a:avLst/>
          </a:prstGeom>
          <a:noFill/>
          <a:ln/>
        </p:spPr>
        <p:txBody>
          <a:bodyPr wrap="square" lIns="0" tIns="0" rIns="0" bIns="0" rtlCol="0" anchor="ctr"/>
          <a:lstStyle/>
          <a:p>
            <a:pPr marL="0" indent="0">
              <a:buNone/>
            </a:pPr>
            <a:r>
              <a:rPr lang="en-US" sz="1400" b="1" dirty="0">
                <a:solidFill>
                  <a:schemeClr val="tx1"/>
                </a:solidFill>
              </a:rPr>
              <a:t>Aayush Potdar</a:t>
            </a:r>
            <a:r>
              <a:rPr lang="en-US" sz="1400" dirty="0">
                <a:solidFill>
                  <a:schemeClr val="tx2"/>
                </a:solidFill>
              </a:rPr>
              <a:t>   1262250835</a:t>
            </a:r>
            <a:endParaRPr lang="en-US" sz="1400" dirty="0"/>
          </a:p>
        </p:txBody>
      </p:sp>
      <p:sp>
        <p:nvSpPr>
          <p:cNvPr id="16" name="Member 4"/>
          <p:cNvSpPr txBox="1"/>
          <p:nvPr/>
        </p:nvSpPr>
        <p:spPr>
          <a:xfrm>
            <a:off x="3474720" y="3904488"/>
            <a:ext cx="2834640" cy="274320"/>
          </a:xfrm>
          <a:prstGeom prst="rect">
            <a:avLst/>
          </a:prstGeom>
          <a:noFill/>
          <a:ln/>
        </p:spPr>
        <p:txBody>
          <a:bodyPr wrap="square" lIns="0" tIns="0" rIns="0" bIns="0" rtlCol="0" anchor="ctr"/>
          <a:lstStyle/>
          <a:p>
            <a:pPr marL="0" indent="0">
              <a:buNone/>
            </a:pPr>
            <a:r>
              <a:rPr lang="en-US" sz="1400" b="1" dirty="0">
                <a:solidFill>
                  <a:schemeClr val="tx1"/>
                </a:solidFill>
              </a:rPr>
              <a:t>Adarsh Bhosale</a:t>
            </a:r>
            <a:r>
              <a:rPr lang="en-US" sz="1400" dirty="0">
                <a:solidFill>
                  <a:schemeClr val="tx2"/>
                </a:solidFill>
              </a:rPr>
              <a:t>   1262252198</a:t>
            </a:r>
            <a:endParaRPr lang="en-US" sz="1400" dirty="0"/>
          </a:p>
        </p:txBody>
      </p:sp>
      <p:sp>
        <p:nvSpPr>
          <p:cNvPr id="17" name="Meta"/>
          <p:cNvSpPr txBox="1"/>
          <p:nvPr/>
        </p:nvSpPr>
        <p:spPr>
          <a:xfrm>
            <a:off x="548640" y="4695444"/>
            <a:ext cx="7772400" cy="274320"/>
          </a:xfrm>
          <a:prstGeom prst="rect">
            <a:avLst/>
          </a:prstGeom>
          <a:noFill/>
          <a:ln/>
        </p:spPr>
        <p:txBody>
          <a:bodyPr wrap="square" lIns="0" tIns="0" rIns="0" bIns="0" rtlCol="0" anchor="ctr"/>
          <a:lstStyle/>
          <a:p>
            <a:pPr marL="0" indent="0">
              <a:buNone/>
            </a:pPr>
            <a:r>
              <a:rPr lang="en-US" sz="1200" dirty="0">
                <a:solidFill>
                  <a:schemeClr val="tx2"/>
                </a:solidFill>
              </a:rPr>
              <a:t>Group 5  ·  Panel E  ·  Batch E1  ·  Faculty: Dr. Swati  ·  Academic Year 2026–2027  ·  21 October 2026</a:t>
            </a:r>
            <a:endParaRPr lang="en-US" sz="1200" dirty="0"/>
          </a:p>
        </p:txBody>
      </p:sp>
      <p:sp>
        <p:nvSpPr>
          <p:cNvPr id="18" name="Member 4">
            <a:extLst>
              <a:ext uri="{FF2B5EF4-FFF2-40B4-BE49-F238E27FC236}">
                <a16:creationId xmlns:a16="http://schemas.microsoft.com/office/drawing/2014/main" id="{0807608E-6580-17A5-B999-F865CA18A45E}"/>
              </a:ext>
            </a:extLst>
          </p:cNvPr>
          <p:cNvSpPr txBox="1"/>
          <p:nvPr/>
        </p:nvSpPr>
        <p:spPr>
          <a:xfrm>
            <a:off x="548640" y="4187952"/>
            <a:ext cx="2834640" cy="274320"/>
          </a:xfrm>
          <a:prstGeom prst="rect">
            <a:avLst/>
          </a:prstGeom>
          <a:noFill/>
          <a:ln/>
        </p:spPr>
        <p:txBody>
          <a:bodyPr wrap="square" lIns="0" tIns="0" rIns="0" bIns="0" rtlCol="0" anchor="ctr"/>
          <a:lstStyle/>
          <a:p>
            <a:pPr marL="0" indent="0">
              <a:buNone/>
            </a:pPr>
            <a:r>
              <a:rPr lang="en-US" sz="1400" b="1" dirty="0">
                <a:solidFill>
                  <a:schemeClr val="tx1"/>
                </a:solidFill>
              </a:rPr>
              <a:t>Adity</a:t>
            </a:r>
            <a:r>
              <a:rPr lang="en-US" sz="1400" b="1" dirty="0"/>
              <a:t>a </a:t>
            </a:r>
            <a:r>
              <a:rPr lang="en-US" sz="1400" b="1" dirty="0" err="1"/>
              <a:t>Dharankar</a:t>
            </a:r>
            <a:r>
              <a:rPr lang="en-US" sz="1400" dirty="0">
                <a:solidFill>
                  <a:schemeClr val="tx2"/>
                </a:solidFill>
              </a:rPr>
              <a:t>   1262250024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Nethryx at a glance</a:t>
            </a:r>
            <a:endParaRPr lang="en-US" sz="3400" dirty="0"/>
          </a:p>
        </p:txBody>
      </p:sp>
      <p:sp>
        <p:nvSpPr>
          <p:cNvPr id="4" name="Overview statement"/>
          <p:cNvSpPr txBox="1"/>
          <p:nvPr/>
        </p:nvSpPr>
        <p:spPr>
          <a:xfrm>
            <a:off x="548640" y="1280160"/>
            <a:ext cx="8046720" cy="868680"/>
          </a:xfrm>
          <a:prstGeom prst="rect">
            <a:avLst/>
          </a:prstGeom>
          <a:noFill/>
          <a:ln/>
        </p:spPr>
        <p:txBody>
          <a:bodyPr wrap="square" lIns="0" tIns="0" rIns="0" bIns="0" rtlCol="0" anchor="t"/>
          <a:lstStyle/>
          <a:p>
            <a:pPr marL="0" indent="0">
              <a:buNone/>
            </a:pPr>
            <a:r>
              <a:rPr lang="en-US" sz="2400" b="1" dirty="0">
                <a:solidFill>
                  <a:schemeClr val="tx1"/>
                </a:solidFill>
              </a:rPr>
              <a:t>A web dashboard that turns raw packet captures into clear, visual summaries.</a:t>
            </a:r>
            <a:endParaRPr lang="en-US" sz="2400" dirty="0"/>
          </a:p>
        </p:txBody>
      </p:sp>
      <p:sp>
        <p:nvSpPr>
          <p:cNvPr id="5" name="Overview detail"/>
          <p:cNvSpPr txBox="1"/>
          <p:nvPr/>
        </p:nvSpPr>
        <p:spPr>
          <a:xfrm>
            <a:off x="548640" y="2148840"/>
            <a:ext cx="8046720" cy="640080"/>
          </a:xfrm>
          <a:prstGeom prst="rect">
            <a:avLst/>
          </a:prstGeom>
          <a:noFill/>
          <a:ln/>
        </p:spPr>
        <p:txBody>
          <a:bodyPr wrap="square" lIns="0" tIns="0" rIns="0" bIns="0" rtlCol="0" anchor="t"/>
          <a:lstStyle/>
          <a:p>
            <a:pPr marL="0" indent="0">
              <a:buNone/>
            </a:pPr>
            <a:r>
              <a:rPr lang="en-US" sz="1400" dirty="0">
                <a:solidFill>
                  <a:schemeClr val="tx2"/>
                </a:solidFill>
              </a:rPr>
              <a:t>Built for students and instructors studying computer networks. It is an educational tool, not a replacement for a full intrusion detection system.</a:t>
            </a:r>
            <a:endParaRPr lang="en-US" sz="1400" dirty="0"/>
          </a:p>
        </p:txBody>
      </p:sp>
      <p:sp>
        <p:nvSpPr>
          <p:cNvPr id="6" name="Overview card ANALYZE"/>
          <p:cNvSpPr/>
          <p:nvPr/>
        </p:nvSpPr>
        <p:spPr>
          <a:xfrm>
            <a:off x="548640" y="2971800"/>
            <a:ext cx="2560320" cy="1508760"/>
          </a:xfrm>
          <a:prstGeom prst="roundRect">
            <a:avLst>
              <a:gd name="adj" fmla="val 4848"/>
            </a:avLst>
          </a:prstGeom>
          <a:solidFill>
            <a:schemeClr val="bg2"/>
          </a:solidFill>
          <a:ln w="12700">
            <a:solidFill>
              <a:schemeClr val="bg2"/>
            </a:solidFill>
            <a:prstDash val="solid"/>
          </a:ln>
        </p:spPr>
      </p:sp>
      <p:sp>
        <p:nvSpPr>
          <p:cNvPr id="7" name="Overview label ANALYZE"/>
          <p:cNvSpPr txBox="1"/>
          <p:nvPr/>
        </p:nvSpPr>
        <p:spPr>
          <a:xfrm>
            <a:off x="731520" y="3127248"/>
            <a:ext cx="219456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ANALYZE</a:t>
            </a:r>
            <a:endParaRPr lang="en-US" sz="1100" dirty="0"/>
          </a:p>
        </p:txBody>
      </p:sp>
      <p:sp>
        <p:nvSpPr>
          <p:cNvPr id="8" name="Overview text ANALYZE"/>
          <p:cNvSpPr txBox="1"/>
          <p:nvPr/>
        </p:nvSpPr>
        <p:spPr>
          <a:xfrm>
            <a:off x="731520" y="3401568"/>
            <a:ext cx="2194560" cy="960120"/>
          </a:xfrm>
          <a:prstGeom prst="rect">
            <a:avLst/>
          </a:prstGeom>
          <a:noFill/>
          <a:ln/>
        </p:spPr>
        <p:txBody>
          <a:bodyPr wrap="square" lIns="0" tIns="0" rIns="0" bIns="0" rtlCol="0" anchor="t"/>
          <a:lstStyle/>
          <a:p>
            <a:pPr marL="0" indent="0">
              <a:buNone/>
            </a:pPr>
            <a:r>
              <a:rPr lang="en-US" sz="1400" dirty="0">
                <a:solidFill>
                  <a:schemeClr val="tx1"/>
                </a:solidFill>
              </a:rPr>
              <a:t>Parses PCAP and PCAPNG with Scapy: packets, bytes, protocols and hosts.</a:t>
            </a:r>
            <a:endParaRPr lang="en-US" sz="1400" dirty="0"/>
          </a:p>
        </p:txBody>
      </p:sp>
      <p:sp>
        <p:nvSpPr>
          <p:cNvPr id="9" name="Overview card FLAG"/>
          <p:cNvSpPr/>
          <p:nvPr/>
        </p:nvSpPr>
        <p:spPr>
          <a:xfrm>
            <a:off x="3291840" y="2971800"/>
            <a:ext cx="2560320" cy="1508760"/>
          </a:xfrm>
          <a:prstGeom prst="roundRect">
            <a:avLst>
              <a:gd name="adj" fmla="val 4848"/>
            </a:avLst>
          </a:prstGeom>
          <a:solidFill>
            <a:schemeClr val="bg2"/>
          </a:solidFill>
          <a:ln w="12700">
            <a:solidFill>
              <a:schemeClr val="bg2"/>
            </a:solidFill>
            <a:prstDash val="solid"/>
          </a:ln>
        </p:spPr>
      </p:sp>
      <p:sp>
        <p:nvSpPr>
          <p:cNvPr id="10" name="Overview label FLAG"/>
          <p:cNvSpPr txBox="1"/>
          <p:nvPr/>
        </p:nvSpPr>
        <p:spPr>
          <a:xfrm>
            <a:off x="3474720" y="3127248"/>
            <a:ext cx="219456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FLAG</a:t>
            </a:r>
            <a:endParaRPr lang="en-US" sz="1100" dirty="0"/>
          </a:p>
        </p:txBody>
      </p:sp>
      <p:sp>
        <p:nvSpPr>
          <p:cNvPr id="11" name="Overview text FLAG"/>
          <p:cNvSpPr txBox="1"/>
          <p:nvPr/>
        </p:nvSpPr>
        <p:spPr>
          <a:xfrm>
            <a:off x="3474720" y="3401568"/>
            <a:ext cx="2194560" cy="960120"/>
          </a:xfrm>
          <a:prstGeom prst="rect">
            <a:avLst/>
          </a:prstGeom>
          <a:noFill/>
          <a:ln/>
        </p:spPr>
        <p:txBody>
          <a:bodyPr wrap="square" lIns="0" tIns="0" rIns="0" bIns="0" rtlCol="0" anchor="t"/>
          <a:lstStyle/>
          <a:p>
            <a:pPr marL="0" indent="0">
              <a:buNone/>
            </a:pPr>
            <a:r>
              <a:rPr lang="en-US" sz="1400" dirty="0">
                <a:solidFill>
                  <a:schemeClr val="tx1"/>
                </a:solidFill>
              </a:rPr>
              <a:t>Two transparent rules highlight scan-like and unusually long DNS patterns.</a:t>
            </a:r>
            <a:endParaRPr lang="en-US" sz="1400" dirty="0"/>
          </a:p>
        </p:txBody>
      </p:sp>
      <p:sp>
        <p:nvSpPr>
          <p:cNvPr id="12" name="Overview card AUTOMATE"/>
          <p:cNvSpPr/>
          <p:nvPr/>
        </p:nvSpPr>
        <p:spPr>
          <a:xfrm>
            <a:off x="6035040" y="2971800"/>
            <a:ext cx="2560320" cy="1508760"/>
          </a:xfrm>
          <a:prstGeom prst="roundRect">
            <a:avLst>
              <a:gd name="adj" fmla="val 4848"/>
            </a:avLst>
          </a:prstGeom>
          <a:solidFill>
            <a:schemeClr val="bg2"/>
          </a:solidFill>
          <a:ln w="12700">
            <a:solidFill>
              <a:schemeClr val="bg2"/>
            </a:solidFill>
            <a:prstDash val="solid"/>
          </a:ln>
        </p:spPr>
      </p:sp>
      <p:sp>
        <p:nvSpPr>
          <p:cNvPr id="13" name="Overview label AUTOMATE"/>
          <p:cNvSpPr txBox="1"/>
          <p:nvPr/>
        </p:nvSpPr>
        <p:spPr>
          <a:xfrm>
            <a:off x="6217920" y="3127248"/>
            <a:ext cx="219456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AUTOMATE</a:t>
            </a:r>
            <a:endParaRPr lang="en-US" sz="1100" dirty="0"/>
          </a:p>
        </p:txBody>
      </p:sp>
      <p:sp>
        <p:nvSpPr>
          <p:cNvPr id="14" name="Overview text AUTOMATE"/>
          <p:cNvSpPr txBox="1"/>
          <p:nvPr/>
        </p:nvSpPr>
        <p:spPr>
          <a:xfrm>
            <a:off x="6217920" y="3401568"/>
            <a:ext cx="2194560" cy="960120"/>
          </a:xfrm>
          <a:prstGeom prst="rect">
            <a:avLst/>
          </a:prstGeom>
          <a:noFill/>
          <a:ln/>
        </p:spPr>
        <p:txBody>
          <a:bodyPr wrap="square" lIns="0" tIns="0" rIns="0" bIns="0" rtlCol="0" anchor="t"/>
          <a:lstStyle/>
          <a:p>
            <a:pPr marL="0" indent="0">
              <a:buNone/>
            </a:pPr>
            <a:r>
              <a:rPr lang="en-US" sz="1400" dirty="0">
                <a:solidFill>
                  <a:schemeClr val="tx1"/>
                </a:solidFill>
              </a:rPr>
              <a:t>Groq plans browser tasks and Playwright runs them, with optional live capture.</a:t>
            </a:r>
            <a:endParaRPr lang="en-US" sz="1400" dirty="0"/>
          </a:p>
        </p:txBody>
      </p:sp>
      <p:sp>
        <p:nvSpPr>
          <p:cNvPr id="25"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Problem and objectives</a:t>
            </a:r>
            <a:endParaRPr lang="en-US" sz="3400" dirty="0"/>
          </a:p>
        </p:txBody>
      </p:sp>
      <p:sp>
        <p:nvSpPr>
          <p:cNvPr id="4" name="Label THE PROBLEM"/>
          <p:cNvSpPr txBox="1"/>
          <p:nvPr/>
        </p:nvSpPr>
        <p:spPr>
          <a:xfrm>
            <a:off x="548640" y="1371600"/>
            <a:ext cx="347472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THE PROBLEM</a:t>
            </a:r>
            <a:endParaRPr lang="en-US" sz="1100" dirty="0"/>
          </a:p>
        </p:txBody>
      </p:sp>
      <p:sp>
        <p:nvSpPr>
          <p:cNvPr id="5" name="Problem statement"/>
          <p:cNvSpPr txBox="1"/>
          <p:nvPr/>
        </p:nvSpPr>
        <p:spPr>
          <a:xfrm>
            <a:off x="548640" y="1645920"/>
            <a:ext cx="3474720" cy="914400"/>
          </a:xfrm>
          <a:prstGeom prst="rect">
            <a:avLst/>
          </a:prstGeom>
          <a:noFill/>
          <a:ln/>
        </p:spPr>
        <p:txBody>
          <a:bodyPr wrap="square" lIns="0" tIns="0" rIns="0" bIns="0" rtlCol="0" anchor="t"/>
          <a:lstStyle/>
          <a:p>
            <a:pPr marL="0" indent="0">
              <a:buNone/>
            </a:pPr>
            <a:r>
              <a:rPr lang="en-US" sz="2400" b="1" dirty="0">
                <a:solidFill>
                  <a:schemeClr val="tx1"/>
                </a:solidFill>
              </a:rPr>
              <a:t>Packet captures are hard to read quickly.</a:t>
            </a:r>
            <a:endParaRPr lang="en-US" sz="2400" dirty="0"/>
          </a:p>
        </p:txBody>
      </p:sp>
      <p:sp>
        <p:nvSpPr>
          <p:cNvPr id="6" name="Problem detail"/>
          <p:cNvSpPr txBox="1"/>
          <p:nvPr/>
        </p:nvSpPr>
        <p:spPr>
          <a:xfrm>
            <a:off x="548640" y="2606040"/>
            <a:ext cx="3474720" cy="1097280"/>
          </a:xfrm>
          <a:prstGeom prst="rect">
            <a:avLst/>
          </a:prstGeom>
          <a:noFill/>
          <a:ln/>
        </p:spPr>
        <p:txBody>
          <a:bodyPr wrap="square" lIns="0" tIns="0" rIns="0" bIns="0" rtlCol="0" anchor="t"/>
          <a:lstStyle/>
          <a:p>
            <a:pPr marL="0" indent="0">
              <a:buNone/>
            </a:pPr>
            <a:r>
              <a:rPr lang="en-US" sz="1400" dirty="0">
                <a:solidFill>
                  <a:schemeClr val="tx1"/>
                </a:solidFill>
              </a:rPr>
              <a:t>Captures mix many protocols. Beginners struggle to spot the busiest protocols, data volume, visible hosts and patterns worth a closer look.</a:t>
            </a:r>
            <a:endParaRPr lang="en-US" sz="1400" dirty="0"/>
          </a:p>
        </p:txBody>
      </p:sp>
      <p:sp>
        <p:nvSpPr>
          <p:cNvPr id="7" name="Scope"/>
          <p:cNvSpPr txBox="1"/>
          <p:nvPr/>
        </p:nvSpPr>
        <p:spPr>
          <a:xfrm>
            <a:off x="548640" y="3794760"/>
            <a:ext cx="3474720" cy="640080"/>
          </a:xfrm>
          <a:prstGeom prst="rect">
            <a:avLst/>
          </a:prstGeom>
          <a:noFill/>
          <a:ln/>
        </p:spPr>
        <p:txBody>
          <a:bodyPr wrap="square" lIns="0" tIns="0" rIns="0" bIns="0" rtlCol="0" anchor="t"/>
          <a:lstStyle/>
          <a:p>
            <a:pPr marL="0" indent="0">
              <a:buNone/>
            </a:pPr>
            <a:r>
              <a:rPr lang="en-US" sz="1200" dirty="0">
                <a:solidFill>
                  <a:schemeClr val="tx2"/>
                </a:solidFill>
              </a:rPr>
              <a:t>Scope: uploaded .pcap / .pcapng files and browser traffic during controlled automation.</a:t>
            </a:r>
            <a:endParaRPr lang="en-US" sz="1200" dirty="0"/>
          </a:p>
        </p:txBody>
      </p:sp>
      <p:sp>
        <p:nvSpPr>
          <p:cNvPr id="8" name="Objective card O1"/>
          <p:cNvSpPr/>
          <p:nvPr/>
        </p:nvSpPr>
        <p:spPr>
          <a:xfrm>
            <a:off x="4480560" y="1371600"/>
            <a:ext cx="4114800" cy="914400"/>
          </a:xfrm>
          <a:prstGeom prst="roundRect">
            <a:avLst>
              <a:gd name="adj" fmla="val 8000"/>
            </a:avLst>
          </a:prstGeom>
          <a:solidFill>
            <a:schemeClr val="bg2"/>
          </a:solidFill>
          <a:ln w="12700">
            <a:solidFill>
              <a:schemeClr val="bg2"/>
            </a:solidFill>
            <a:prstDash val="solid"/>
          </a:ln>
        </p:spPr>
      </p:sp>
      <p:sp>
        <p:nvSpPr>
          <p:cNvPr id="9" name="Objective badge O1"/>
          <p:cNvSpPr/>
          <p:nvPr/>
        </p:nvSpPr>
        <p:spPr>
          <a:xfrm>
            <a:off x="4663440" y="160020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O1</a:t>
            </a:r>
            <a:endParaRPr lang="en-US" sz="1300" dirty="0"/>
          </a:p>
        </p:txBody>
      </p:sp>
      <p:sp>
        <p:nvSpPr>
          <p:cNvPr id="10" name="Objective text O1"/>
          <p:cNvSpPr txBox="1"/>
          <p:nvPr/>
        </p:nvSpPr>
        <p:spPr>
          <a:xfrm>
            <a:off x="5303520" y="1444752"/>
            <a:ext cx="3200400" cy="768096"/>
          </a:xfrm>
          <a:prstGeom prst="rect">
            <a:avLst/>
          </a:prstGeom>
          <a:noFill/>
          <a:ln/>
        </p:spPr>
        <p:txBody>
          <a:bodyPr wrap="square" lIns="0" tIns="0" rIns="0" bIns="0" rtlCol="0" anchor="ctr"/>
          <a:lstStyle/>
          <a:p>
            <a:pPr marL="0" indent="0">
              <a:buNone/>
            </a:pPr>
            <a:r>
              <a:rPr lang="en-US" sz="1600" b="1" dirty="0">
                <a:solidFill>
                  <a:schemeClr val="tx1"/>
                </a:solidFill>
              </a:rPr>
              <a:t>Parse captures</a:t>
            </a:r>
            <a:endParaRPr lang="en-US" sz="1600" dirty="0"/>
          </a:p>
          <a:p>
            <a:pPr marL="0" indent="0">
              <a:buNone/>
            </a:pPr>
            <a:r>
              <a:rPr lang="en-US" sz="1400" dirty="0">
                <a:solidFill>
                  <a:schemeClr val="tx1"/>
                </a:solidFill>
              </a:rPr>
              <a:t>Accept valid PCAP/PCAPNG files and reject invalid uploads.</a:t>
            </a:r>
            <a:endParaRPr lang="en-US" sz="1600" dirty="0"/>
          </a:p>
        </p:txBody>
      </p:sp>
      <p:sp>
        <p:nvSpPr>
          <p:cNvPr id="11" name="Objective card O2"/>
          <p:cNvSpPr/>
          <p:nvPr/>
        </p:nvSpPr>
        <p:spPr>
          <a:xfrm>
            <a:off x="4480560" y="2423160"/>
            <a:ext cx="4114800" cy="914400"/>
          </a:xfrm>
          <a:prstGeom prst="roundRect">
            <a:avLst>
              <a:gd name="adj" fmla="val 8000"/>
            </a:avLst>
          </a:prstGeom>
          <a:solidFill>
            <a:schemeClr val="bg2"/>
          </a:solidFill>
          <a:ln w="12700">
            <a:solidFill>
              <a:schemeClr val="bg2"/>
            </a:solidFill>
            <a:prstDash val="solid"/>
          </a:ln>
        </p:spPr>
      </p:sp>
      <p:sp>
        <p:nvSpPr>
          <p:cNvPr id="12" name="Objective badge O2"/>
          <p:cNvSpPr/>
          <p:nvPr/>
        </p:nvSpPr>
        <p:spPr>
          <a:xfrm>
            <a:off x="4663440" y="265176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O2</a:t>
            </a:r>
            <a:endParaRPr lang="en-US" sz="1300" dirty="0"/>
          </a:p>
        </p:txBody>
      </p:sp>
      <p:sp>
        <p:nvSpPr>
          <p:cNvPr id="13" name="Objective text O2"/>
          <p:cNvSpPr txBox="1"/>
          <p:nvPr/>
        </p:nvSpPr>
        <p:spPr>
          <a:xfrm>
            <a:off x="5303520" y="2496312"/>
            <a:ext cx="3200400" cy="768096"/>
          </a:xfrm>
          <a:prstGeom prst="rect">
            <a:avLst/>
          </a:prstGeom>
          <a:noFill/>
          <a:ln/>
        </p:spPr>
        <p:txBody>
          <a:bodyPr wrap="square" lIns="0" tIns="0" rIns="0" bIns="0" rtlCol="0" anchor="ctr"/>
          <a:lstStyle/>
          <a:p>
            <a:pPr marL="0" indent="0">
              <a:buNone/>
            </a:pPr>
            <a:r>
              <a:rPr lang="en-US" sz="1600" b="1" dirty="0">
                <a:solidFill>
                  <a:schemeClr val="tx1"/>
                </a:solidFill>
              </a:rPr>
              <a:t>Summarize traffic</a:t>
            </a:r>
            <a:endParaRPr lang="en-US" sz="1600" dirty="0"/>
          </a:p>
          <a:p>
            <a:pPr marL="0" indent="0">
              <a:buNone/>
            </a:pPr>
            <a:r>
              <a:rPr lang="en-US" sz="1400" dirty="0">
                <a:solidFill>
                  <a:schemeClr val="tx1"/>
                </a:solidFill>
              </a:rPr>
              <a:t>Packet volume, protocols, timeline and visible hosts.</a:t>
            </a:r>
            <a:endParaRPr lang="en-US" sz="1600" dirty="0"/>
          </a:p>
        </p:txBody>
      </p:sp>
      <p:sp>
        <p:nvSpPr>
          <p:cNvPr id="14" name="Objective card O3"/>
          <p:cNvSpPr/>
          <p:nvPr/>
        </p:nvSpPr>
        <p:spPr>
          <a:xfrm>
            <a:off x="4480560" y="3474720"/>
            <a:ext cx="4114800" cy="914400"/>
          </a:xfrm>
          <a:prstGeom prst="roundRect">
            <a:avLst>
              <a:gd name="adj" fmla="val 8000"/>
            </a:avLst>
          </a:prstGeom>
          <a:solidFill>
            <a:schemeClr val="bg2"/>
          </a:solidFill>
          <a:ln w="12700">
            <a:solidFill>
              <a:schemeClr val="bg2"/>
            </a:solidFill>
            <a:prstDash val="solid"/>
          </a:ln>
        </p:spPr>
      </p:sp>
      <p:sp>
        <p:nvSpPr>
          <p:cNvPr id="15" name="Objective badge O3"/>
          <p:cNvSpPr/>
          <p:nvPr/>
        </p:nvSpPr>
        <p:spPr>
          <a:xfrm>
            <a:off x="4663440" y="370332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O3</a:t>
            </a:r>
            <a:endParaRPr lang="en-US" sz="1300" dirty="0"/>
          </a:p>
        </p:txBody>
      </p:sp>
      <p:sp>
        <p:nvSpPr>
          <p:cNvPr id="16" name="Objective text O3"/>
          <p:cNvSpPr txBox="1"/>
          <p:nvPr/>
        </p:nvSpPr>
        <p:spPr>
          <a:xfrm>
            <a:off x="5303520" y="3547872"/>
            <a:ext cx="3200400" cy="768096"/>
          </a:xfrm>
          <a:prstGeom prst="rect">
            <a:avLst/>
          </a:prstGeom>
          <a:noFill/>
          <a:ln/>
        </p:spPr>
        <p:txBody>
          <a:bodyPr wrap="square" lIns="0" tIns="0" rIns="0" bIns="0" rtlCol="0" anchor="ctr"/>
          <a:lstStyle/>
          <a:p>
            <a:pPr marL="0" indent="0">
              <a:buNone/>
            </a:pPr>
            <a:r>
              <a:rPr lang="en-US" sz="1600" b="1" dirty="0">
                <a:solidFill>
                  <a:schemeClr val="tx1"/>
                </a:solidFill>
              </a:rPr>
              <a:t>Flag and automate</a:t>
            </a:r>
            <a:endParaRPr lang="en-US" sz="1600" dirty="0"/>
          </a:p>
          <a:p>
            <a:pPr marL="0" indent="0">
              <a:buNone/>
            </a:pPr>
            <a:r>
              <a:rPr lang="en-US" sz="1400" dirty="0">
                <a:solidFill>
                  <a:schemeClr val="tx1"/>
                </a:solidFill>
              </a:rPr>
              <a:t>Transparent pattern flags, plus browser tasks with optional live capture.</a:t>
            </a:r>
            <a:endParaRPr lang="en-US" sz="1600" dirty="0"/>
          </a:p>
        </p:txBody>
      </p:sp>
      <p:sp>
        <p:nvSpPr>
          <p:cNvPr id="25"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Scope and boundaries</a:t>
            </a:r>
            <a:endParaRPr lang="en-US" sz="3400" dirty="0"/>
          </a:p>
        </p:txBody>
      </p:sp>
      <p:sp>
        <p:nvSpPr>
          <p:cNvPr id="4" name="In scope panel"/>
          <p:cNvSpPr/>
          <p:nvPr/>
        </p:nvSpPr>
        <p:spPr>
          <a:xfrm>
            <a:off x="548640" y="1325880"/>
            <a:ext cx="3931920" cy="3108960"/>
          </a:xfrm>
          <a:prstGeom prst="roundRect">
            <a:avLst>
              <a:gd name="adj" fmla="val 2353"/>
            </a:avLst>
          </a:prstGeom>
          <a:solidFill>
            <a:schemeClr val="bg2"/>
          </a:solidFill>
          <a:ln w="12700">
            <a:solidFill>
              <a:schemeClr val="bg2"/>
            </a:solidFill>
            <a:prstDash val="solid"/>
          </a:ln>
        </p:spPr>
      </p:sp>
      <p:sp>
        <p:nvSpPr>
          <p:cNvPr id="5" name="In scope label"/>
          <p:cNvSpPr txBox="1"/>
          <p:nvPr/>
        </p:nvSpPr>
        <p:spPr>
          <a:xfrm>
            <a:off x="822960" y="1508760"/>
            <a:ext cx="338328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IN SCOPE</a:t>
            </a:r>
            <a:endParaRPr lang="en-US" sz="1100" dirty="0"/>
          </a:p>
        </p:txBody>
      </p:sp>
      <p:sp>
        <p:nvSpPr>
          <p:cNvPr id="6" name="In scope list"/>
          <p:cNvSpPr txBox="1"/>
          <p:nvPr/>
        </p:nvSpPr>
        <p:spPr>
          <a:xfrm>
            <a:off x="822960" y="1874520"/>
            <a:ext cx="338328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Uploaded .pcap and .pcapng files up to 200 MB</a:t>
            </a:r>
            <a:endParaRPr lang="en-US" sz="1400" dirty="0"/>
          </a:p>
          <a:p>
            <a:pPr marL="342900" indent="-342900">
              <a:spcAft>
                <a:spcPts val="800"/>
              </a:spcAft>
              <a:buSzPct val="100000"/>
              <a:buChar char="•"/>
            </a:pPr>
            <a:r>
              <a:rPr lang="en-US" sz="1400" dirty="0">
                <a:solidFill>
                  <a:schemeClr val="tx1"/>
                </a:solidFill>
              </a:rPr>
              <a:t>Totals tracked across the whole file; 300,000 rows kept for charts</a:t>
            </a:r>
            <a:endParaRPr lang="en-US" sz="1400" dirty="0"/>
          </a:p>
          <a:p>
            <a:pPr marL="342900" indent="-342900">
              <a:spcAft>
                <a:spcPts val="800"/>
              </a:spcAft>
              <a:buSzPct val="100000"/>
              <a:buChar char="•"/>
            </a:pPr>
            <a:r>
              <a:rPr lang="en-US" sz="1400" dirty="0">
                <a:solidFill>
                  <a:schemeClr val="tx1"/>
                </a:solidFill>
              </a:rPr>
              <a:t>Live capture from the selected network adapter</a:t>
            </a:r>
            <a:endParaRPr lang="en-US" sz="1400" dirty="0"/>
          </a:p>
          <a:p>
            <a:pPr marL="342900" indent="-342900">
              <a:spcAft>
                <a:spcPts val="800"/>
              </a:spcAft>
              <a:buSzPct val="100000"/>
              <a:buChar char="•"/>
            </a:pPr>
            <a:r>
              <a:rPr lang="en-US" sz="1400" dirty="0">
                <a:solidFill>
                  <a:schemeClr val="tx1"/>
                </a:solidFill>
              </a:rPr>
              <a:t>Browser tasks on allowed domains only</a:t>
            </a:r>
            <a:endParaRPr lang="en-US" sz="1400" dirty="0"/>
          </a:p>
        </p:txBody>
      </p:sp>
      <p:sp>
        <p:nvSpPr>
          <p:cNvPr id="7" name="Out of scope panel"/>
          <p:cNvSpPr/>
          <p:nvPr/>
        </p:nvSpPr>
        <p:spPr>
          <a:xfrm>
            <a:off x="4663440" y="1325880"/>
            <a:ext cx="3931920" cy="3108960"/>
          </a:xfrm>
          <a:prstGeom prst="roundRect">
            <a:avLst>
              <a:gd name="adj" fmla="val 2353"/>
            </a:avLst>
          </a:prstGeom>
          <a:solidFill>
            <a:schemeClr val="bg2"/>
          </a:solidFill>
          <a:ln w="12700">
            <a:solidFill>
              <a:schemeClr val="bg2"/>
            </a:solidFill>
            <a:prstDash val="solid"/>
          </a:ln>
        </p:spPr>
      </p:sp>
      <p:sp>
        <p:nvSpPr>
          <p:cNvPr id="8" name="Out of scope label"/>
          <p:cNvSpPr txBox="1"/>
          <p:nvPr/>
        </p:nvSpPr>
        <p:spPr>
          <a:xfrm>
            <a:off x="4937760" y="1508760"/>
            <a:ext cx="3383280" cy="228600"/>
          </a:xfrm>
          <a:prstGeom prst="rect">
            <a:avLst/>
          </a:prstGeom>
          <a:noFill/>
          <a:ln/>
        </p:spPr>
        <p:txBody>
          <a:bodyPr wrap="square" lIns="0" tIns="0" rIns="0" bIns="0" rtlCol="0" anchor="ctr"/>
          <a:lstStyle/>
          <a:p>
            <a:pPr marL="0" indent="0">
              <a:buNone/>
            </a:pPr>
            <a:r>
              <a:rPr lang="en-US" sz="1100" b="1" kern="0" spc="200" dirty="0">
                <a:solidFill>
                  <a:schemeClr val="tx2"/>
                </a:solidFill>
              </a:rPr>
              <a:t>OUT OF SCOPE</a:t>
            </a:r>
            <a:endParaRPr lang="en-US" sz="1100" dirty="0"/>
          </a:p>
        </p:txBody>
      </p:sp>
      <p:sp>
        <p:nvSpPr>
          <p:cNvPr id="9" name="Out of scope list"/>
          <p:cNvSpPr txBox="1"/>
          <p:nvPr/>
        </p:nvSpPr>
        <p:spPr>
          <a:xfrm>
            <a:off x="4937760" y="1874520"/>
            <a:ext cx="338328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Decrypting TLS traffic</a:t>
            </a:r>
            <a:endParaRPr lang="en-US" sz="1400" dirty="0"/>
          </a:p>
          <a:p>
            <a:pPr marL="342900" indent="-342900">
              <a:spcAft>
                <a:spcPts val="800"/>
              </a:spcAft>
              <a:buSzPct val="100000"/>
              <a:buChar char="•"/>
            </a:pPr>
            <a:r>
              <a:rPr lang="en-US" sz="1400" dirty="0">
                <a:solidFill>
                  <a:schemeClr val="tx1"/>
                </a:solidFill>
              </a:rPr>
              <a:t>Proving malicious intent</a:t>
            </a:r>
            <a:endParaRPr lang="en-US" sz="1400" dirty="0"/>
          </a:p>
          <a:p>
            <a:pPr marL="342900" indent="-342900">
              <a:spcAft>
                <a:spcPts val="800"/>
              </a:spcAft>
              <a:buSzPct val="100000"/>
              <a:buChar char="•"/>
            </a:pPr>
            <a:r>
              <a:rPr lang="en-US" sz="1400" dirty="0">
                <a:solidFill>
                  <a:schemeClr val="tx1"/>
                </a:solidFill>
              </a:rPr>
              <a:t>A complete IDS/IPS</a:t>
            </a:r>
            <a:endParaRPr lang="en-US" sz="1400" dirty="0"/>
          </a:p>
          <a:p>
            <a:pPr marL="342900" indent="-342900">
              <a:spcAft>
                <a:spcPts val="800"/>
              </a:spcAft>
              <a:buSzPct val="100000"/>
              <a:buChar char="•"/>
            </a:pPr>
            <a:r>
              <a:rPr lang="en-US" sz="1400" dirty="0">
                <a:solidFill>
                  <a:schemeClr val="tx1"/>
                </a:solidFill>
              </a:rPr>
              <a:t>Persistence across restarts: analysis is held in memory</a:t>
            </a:r>
            <a:endParaRPr lang="en-US" sz="1400" dirty="0"/>
          </a:p>
        </p:txBody>
      </p:sp>
      <p:sp>
        <p:nvSpPr>
          <p:cNvPr id="25"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System architecture</a:t>
            </a:r>
            <a:endParaRPr lang="en-US" sz="3400" dirty="0"/>
          </a:p>
        </p:txBody>
      </p:sp>
      <p:sp>
        <p:nvSpPr>
          <p:cNvPr id="4" name="Node user"/>
          <p:cNvSpPr/>
          <p:nvPr/>
        </p:nvSpPr>
        <p:spPr>
          <a:xfrm>
            <a:off x="548640" y="1920240"/>
            <a:ext cx="2194560" cy="822960"/>
          </a:xfrm>
          <a:prstGeom prst="roundRect">
            <a:avLst>
              <a:gd name="adj" fmla="val 8889"/>
            </a:avLst>
          </a:prstGeom>
          <a:solidFill>
            <a:schemeClr val="bg2"/>
          </a:solidFill>
          <a:ln w="12700">
            <a:solidFill>
              <a:schemeClr val="bg2"/>
            </a:solidFill>
            <a:prstDash val="solid"/>
          </a:ln>
        </p:spPr>
      </p:sp>
      <p:sp>
        <p:nvSpPr>
          <p:cNvPr id="5" name="Node user text"/>
          <p:cNvSpPr txBox="1"/>
          <p:nvPr/>
        </p:nvSpPr>
        <p:spPr>
          <a:xfrm>
            <a:off x="548640" y="1920240"/>
            <a:ext cx="2194560" cy="822960"/>
          </a:xfrm>
          <a:prstGeom prst="rect">
            <a:avLst/>
          </a:prstGeom>
          <a:noFill/>
          <a:ln/>
        </p:spPr>
        <p:txBody>
          <a:bodyPr wrap="square" lIns="635" tIns="635" rIns="635" bIns="635" rtlCol="0" anchor="ctr"/>
          <a:lstStyle/>
          <a:p>
            <a:pPr marL="0" indent="0" algn="ctr">
              <a:buNone/>
            </a:pPr>
            <a:r>
              <a:rPr lang="en-US" sz="1600" b="1" dirty="0">
                <a:solidFill>
                  <a:schemeClr val="tx1"/>
                </a:solidFill>
              </a:rPr>
              <a:t>User / Browser</a:t>
            </a:r>
            <a:endParaRPr lang="en-US" sz="1600" dirty="0"/>
          </a:p>
          <a:p>
            <a:pPr marL="0" indent="0" algn="ctr">
              <a:buNone/>
            </a:pPr>
            <a:r>
              <a:rPr lang="en-US" sz="1200" dirty="0">
                <a:solidFill>
                  <a:schemeClr val="tx1"/>
                </a:solidFill>
              </a:rPr>
              <a:t>React dashboard</a:t>
            </a:r>
            <a:endParaRPr lang="en-US" sz="1600" dirty="0"/>
          </a:p>
        </p:txBody>
      </p:sp>
      <p:sp>
        <p:nvSpPr>
          <p:cNvPr id="6" name="Node backend"/>
          <p:cNvSpPr/>
          <p:nvPr/>
        </p:nvSpPr>
        <p:spPr>
          <a:xfrm>
            <a:off x="3474720" y="1371600"/>
            <a:ext cx="2194560" cy="1920240"/>
          </a:xfrm>
          <a:prstGeom prst="roundRect">
            <a:avLst>
              <a:gd name="adj" fmla="val 3810"/>
            </a:avLst>
          </a:prstGeom>
          <a:solidFill>
            <a:schemeClr val="accent1"/>
          </a:solidFill>
          <a:ln w="12700">
            <a:solidFill>
              <a:schemeClr val="accent1"/>
            </a:solidFill>
            <a:prstDash val="solid"/>
          </a:ln>
        </p:spPr>
      </p:sp>
      <p:sp>
        <p:nvSpPr>
          <p:cNvPr id="7" name="Node backend text"/>
          <p:cNvSpPr txBox="1"/>
          <p:nvPr/>
        </p:nvSpPr>
        <p:spPr>
          <a:xfrm>
            <a:off x="3474720" y="1371600"/>
            <a:ext cx="2194560" cy="1920240"/>
          </a:xfrm>
          <a:prstGeom prst="rect">
            <a:avLst/>
          </a:prstGeom>
          <a:noFill/>
          <a:ln/>
        </p:spPr>
        <p:txBody>
          <a:bodyPr wrap="square" lIns="635" tIns="635" rIns="635" bIns="635" rtlCol="0" anchor="ctr"/>
          <a:lstStyle/>
          <a:p>
            <a:pPr marL="0" indent="0" algn="ctr">
              <a:buNone/>
            </a:pPr>
            <a:r>
              <a:rPr lang="en-US" sz="1600" b="1" dirty="0">
                <a:solidFill>
                  <a:schemeClr val="bg1"/>
                </a:solidFill>
              </a:rPr>
              <a:t>FastAPI Backend</a:t>
            </a:r>
            <a:endParaRPr lang="en-US" sz="1600" dirty="0"/>
          </a:p>
          <a:p>
            <a:pPr marL="0" indent="0" algn="ctr">
              <a:buNone/>
            </a:pPr>
            <a:r>
              <a:rPr lang="en-US" sz="1200" dirty="0">
                <a:solidFill>
                  <a:schemeClr val="bg1"/>
                </a:solidFill>
              </a:rPr>
              <a:t>REST API + WebSocket</a:t>
            </a:r>
            <a:endParaRPr lang="en-US" sz="1600" dirty="0"/>
          </a:p>
        </p:txBody>
      </p:sp>
      <p:sp>
        <p:nvSpPr>
          <p:cNvPr id="8" name="Node pcap"/>
          <p:cNvSpPr/>
          <p:nvPr/>
        </p:nvSpPr>
        <p:spPr>
          <a:xfrm>
            <a:off x="6400800" y="1371600"/>
            <a:ext cx="2194560" cy="822960"/>
          </a:xfrm>
          <a:prstGeom prst="roundRect">
            <a:avLst>
              <a:gd name="adj" fmla="val 8889"/>
            </a:avLst>
          </a:prstGeom>
          <a:solidFill>
            <a:schemeClr val="bg2"/>
          </a:solidFill>
          <a:ln w="12700">
            <a:solidFill>
              <a:schemeClr val="bg2"/>
            </a:solidFill>
            <a:prstDash val="solid"/>
          </a:ln>
        </p:spPr>
      </p:sp>
      <p:sp>
        <p:nvSpPr>
          <p:cNvPr id="9" name="Node pcap text"/>
          <p:cNvSpPr txBox="1"/>
          <p:nvPr/>
        </p:nvSpPr>
        <p:spPr>
          <a:xfrm>
            <a:off x="6400800" y="1371600"/>
            <a:ext cx="2194560" cy="822960"/>
          </a:xfrm>
          <a:prstGeom prst="rect">
            <a:avLst/>
          </a:prstGeom>
          <a:noFill/>
          <a:ln/>
        </p:spPr>
        <p:txBody>
          <a:bodyPr wrap="square" lIns="635" tIns="635" rIns="635" bIns="635" rtlCol="0" anchor="ctr"/>
          <a:lstStyle/>
          <a:p>
            <a:pPr marL="0" indent="0" algn="ctr">
              <a:buNone/>
            </a:pPr>
            <a:r>
              <a:rPr lang="en-US" sz="1600" b="1" dirty="0">
                <a:solidFill>
                  <a:schemeClr val="tx1"/>
                </a:solidFill>
              </a:rPr>
              <a:t>PCAP Analysis</a:t>
            </a:r>
            <a:endParaRPr lang="en-US" sz="1600" dirty="0"/>
          </a:p>
          <a:p>
            <a:pPr marL="0" indent="0" algn="ctr">
              <a:buNone/>
            </a:pPr>
            <a:r>
              <a:rPr lang="en-US" sz="1200" dirty="0">
                <a:solidFill>
                  <a:schemeClr val="tx1"/>
                </a:solidFill>
              </a:rPr>
              <a:t>Scapy PcapReader</a:t>
            </a:r>
            <a:endParaRPr lang="en-US" sz="1600" dirty="0"/>
          </a:p>
        </p:txBody>
      </p:sp>
      <p:sp>
        <p:nvSpPr>
          <p:cNvPr id="10" name="Node live"/>
          <p:cNvSpPr/>
          <p:nvPr/>
        </p:nvSpPr>
        <p:spPr>
          <a:xfrm>
            <a:off x="6400800" y="2468880"/>
            <a:ext cx="2194560" cy="822960"/>
          </a:xfrm>
          <a:prstGeom prst="roundRect">
            <a:avLst>
              <a:gd name="adj" fmla="val 8889"/>
            </a:avLst>
          </a:prstGeom>
          <a:solidFill>
            <a:schemeClr val="bg2"/>
          </a:solidFill>
          <a:ln w="12700">
            <a:solidFill>
              <a:schemeClr val="bg2"/>
            </a:solidFill>
            <a:prstDash val="solid"/>
          </a:ln>
        </p:spPr>
      </p:sp>
      <p:sp>
        <p:nvSpPr>
          <p:cNvPr id="11" name="Node live text"/>
          <p:cNvSpPr txBox="1"/>
          <p:nvPr/>
        </p:nvSpPr>
        <p:spPr>
          <a:xfrm>
            <a:off x="6400800" y="2468880"/>
            <a:ext cx="2194560" cy="822960"/>
          </a:xfrm>
          <a:prstGeom prst="rect">
            <a:avLst/>
          </a:prstGeom>
          <a:noFill/>
          <a:ln/>
        </p:spPr>
        <p:txBody>
          <a:bodyPr wrap="square" lIns="635" tIns="635" rIns="635" bIns="635" rtlCol="0" anchor="ctr"/>
          <a:lstStyle/>
          <a:p>
            <a:pPr marL="0" indent="0" algn="ctr">
              <a:buNone/>
            </a:pPr>
            <a:r>
              <a:rPr lang="en-US" sz="1600" b="1" dirty="0">
                <a:solidFill>
                  <a:schemeClr val="tx1"/>
                </a:solidFill>
              </a:rPr>
              <a:t>Live Capture</a:t>
            </a:r>
            <a:endParaRPr lang="en-US" sz="1600" dirty="0"/>
          </a:p>
          <a:p>
            <a:pPr marL="0" indent="0" algn="ctr">
              <a:buNone/>
            </a:pPr>
            <a:r>
              <a:rPr lang="en-US" sz="1200" dirty="0">
                <a:solidFill>
                  <a:schemeClr val="tx1"/>
                </a:solidFill>
              </a:rPr>
              <a:t>Scapy + Npcap</a:t>
            </a:r>
            <a:endParaRPr lang="en-US" sz="1600" dirty="0"/>
          </a:p>
        </p:txBody>
      </p:sp>
      <p:sp>
        <p:nvSpPr>
          <p:cNvPr id="12" name="Node automation"/>
          <p:cNvSpPr/>
          <p:nvPr/>
        </p:nvSpPr>
        <p:spPr>
          <a:xfrm>
            <a:off x="3474720" y="3657600"/>
            <a:ext cx="2194560" cy="822960"/>
          </a:xfrm>
          <a:prstGeom prst="roundRect">
            <a:avLst>
              <a:gd name="adj" fmla="val 8889"/>
            </a:avLst>
          </a:prstGeom>
          <a:solidFill>
            <a:schemeClr val="bg2"/>
          </a:solidFill>
          <a:ln w="12700">
            <a:solidFill>
              <a:schemeClr val="bg2"/>
            </a:solidFill>
            <a:prstDash val="solid"/>
          </a:ln>
        </p:spPr>
      </p:sp>
      <p:sp>
        <p:nvSpPr>
          <p:cNvPr id="13" name="Node automation text"/>
          <p:cNvSpPr txBox="1"/>
          <p:nvPr/>
        </p:nvSpPr>
        <p:spPr>
          <a:xfrm>
            <a:off x="3474720" y="3657600"/>
            <a:ext cx="2194560" cy="822960"/>
          </a:xfrm>
          <a:prstGeom prst="rect">
            <a:avLst/>
          </a:prstGeom>
          <a:noFill/>
          <a:ln/>
        </p:spPr>
        <p:txBody>
          <a:bodyPr wrap="square" lIns="635" tIns="635" rIns="635" bIns="635" rtlCol="0" anchor="ctr"/>
          <a:lstStyle/>
          <a:p>
            <a:pPr marL="0" indent="0" algn="ctr">
              <a:buNone/>
            </a:pPr>
            <a:r>
              <a:rPr lang="en-US" sz="1600" b="1" dirty="0">
                <a:solidFill>
                  <a:schemeClr val="tx1"/>
                </a:solidFill>
              </a:rPr>
              <a:t>Browser Automation</a:t>
            </a:r>
            <a:endParaRPr lang="en-US" sz="1600" dirty="0"/>
          </a:p>
          <a:p>
            <a:pPr marL="0" indent="0" algn="ctr">
              <a:buNone/>
            </a:pPr>
            <a:r>
              <a:rPr lang="en-US" sz="1200" dirty="0">
                <a:solidFill>
                  <a:schemeClr val="tx1"/>
                </a:solidFill>
              </a:rPr>
              <a:t>Playwright + Chrome</a:t>
            </a:r>
            <a:endParaRPr lang="en-US" sz="1600" dirty="0"/>
          </a:p>
        </p:txBody>
      </p:sp>
      <p:sp>
        <p:nvSpPr>
          <p:cNvPr id="14" name="Node groq"/>
          <p:cNvSpPr/>
          <p:nvPr/>
        </p:nvSpPr>
        <p:spPr>
          <a:xfrm>
            <a:off x="6400800" y="3657600"/>
            <a:ext cx="2194560" cy="822960"/>
          </a:xfrm>
          <a:prstGeom prst="roundRect">
            <a:avLst>
              <a:gd name="adj" fmla="val 8889"/>
            </a:avLst>
          </a:prstGeom>
          <a:solidFill>
            <a:schemeClr val="bg2"/>
          </a:solidFill>
          <a:ln w="12700">
            <a:solidFill>
              <a:schemeClr val="bg2"/>
            </a:solidFill>
            <a:prstDash val="solid"/>
          </a:ln>
        </p:spPr>
      </p:sp>
      <p:sp>
        <p:nvSpPr>
          <p:cNvPr id="15" name="Node groq text"/>
          <p:cNvSpPr txBox="1"/>
          <p:nvPr/>
        </p:nvSpPr>
        <p:spPr>
          <a:xfrm>
            <a:off x="6400800" y="3657600"/>
            <a:ext cx="2194560" cy="822960"/>
          </a:xfrm>
          <a:prstGeom prst="rect">
            <a:avLst/>
          </a:prstGeom>
          <a:noFill/>
          <a:ln/>
        </p:spPr>
        <p:txBody>
          <a:bodyPr wrap="square" lIns="635" tIns="635" rIns="635" bIns="635" rtlCol="0" anchor="ctr"/>
          <a:lstStyle/>
          <a:p>
            <a:pPr marL="0" indent="0" algn="ctr">
              <a:buNone/>
            </a:pPr>
            <a:r>
              <a:rPr lang="en-US" sz="1600" b="1" dirty="0">
                <a:solidFill>
                  <a:schemeClr val="tx1"/>
                </a:solidFill>
              </a:rPr>
              <a:t>Groq API</a:t>
            </a:r>
            <a:endParaRPr lang="en-US" sz="1600" dirty="0"/>
          </a:p>
          <a:p>
            <a:pPr marL="0" indent="0" algn="ctr">
              <a:buNone/>
            </a:pPr>
            <a:r>
              <a:rPr lang="en-US" sz="1200" dirty="0">
                <a:solidFill>
                  <a:schemeClr val="tx1"/>
                </a:solidFill>
              </a:rPr>
              <a:t>Task planning, capture Q&amp;A</a:t>
            </a:r>
            <a:endParaRPr lang="en-US" sz="1600" dirty="0"/>
          </a:p>
        </p:txBody>
      </p:sp>
      <p:sp>
        <p:nvSpPr>
          <p:cNvPr id="16" name="Arrow user to backend"/>
          <p:cNvSpPr/>
          <p:nvPr/>
        </p:nvSpPr>
        <p:spPr>
          <a:xfrm>
            <a:off x="2743200" y="2331720"/>
            <a:ext cx="731520" cy="0"/>
          </a:xfrm>
          <a:prstGeom prst="line">
            <a:avLst/>
          </a:prstGeom>
          <a:noFill/>
          <a:ln w="19050">
            <a:solidFill>
              <a:schemeClr val="accent2"/>
            </a:solidFill>
            <a:prstDash val="solid"/>
            <a:tailEnd type="triangle"/>
          </a:ln>
        </p:spPr>
      </p:sp>
      <p:sp>
        <p:nvSpPr>
          <p:cNvPr id="17" name="Arrow label HTTP / WS"/>
          <p:cNvSpPr txBox="1"/>
          <p:nvPr/>
        </p:nvSpPr>
        <p:spPr>
          <a:xfrm>
            <a:off x="2743200" y="2084832"/>
            <a:ext cx="731520" cy="201168"/>
          </a:xfrm>
          <a:prstGeom prst="rect">
            <a:avLst/>
          </a:prstGeom>
          <a:noFill/>
          <a:ln/>
        </p:spPr>
        <p:txBody>
          <a:bodyPr wrap="square" lIns="0" tIns="0" rIns="0" bIns="0" rtlCol="0" anchor="ctr"/>
          <a:lstStyle/>
          <a:p>
            <a:pPr marL="0" indent="0" algn="ctr">
              <a:buNone/>
            </a:pPr>
            <a:r>
              <a:rPr lang="en-US" sz="1000" dirty="0">
                <a:solidFill>
                  <a:schemeClr val="tx2"/>
                </a:solidFill>
              </a:rPr>
              <a:t>HTTP / WS</a:t>
            </a:r>
            <a:endParaRPr lang="en-US" sz="1000" dirty="0"/>
          </a:p>
        </p:txBody>
      </p:sp>
      <p:sp>
        <p:nvSpPr>
          <p:cNvPr id="18" name="Arrow backend to pcap"/>
          <p:cNvSpPr/>
          <p:nvPr/>
        </p:nvSpPr>
        <p:spPr>
          <a:xfrm>
            <a:off x="5669280" y="1783080"/>
            <a:ext cx="731520" cy="0"/>
          </a:xfrm>
          <a:prstGeom prst="line">
            <a:avLst/>
          </a:prstGeom>
          <a:noFill/>
          <a:ln w="19050">
            <a:solidFill>
              <a:schemeClr val="accent2"/>
            </a:solidFill>
            <a:prstDash val="solid"/>
            <a:tailEnd type="triangle"/>
          </a:ln>
        </p:spPr>
      </p:sp>
      <p:sp>
        <p:nvSpPr>
          <p:cNvPr id="19" name="Arrow label Upload"/>
          <p:cNvSpPr txBox="1"/>
          <p:nvPr/>
        </p:nvSpPr>
        <p:spPr>
          <a:xfrm>
            <a:off x="5669280" y="1536192"/>
            <a:ext cx="731520" cy="201168"/>
          </a:xfrm>
          <a:prstGeom prst="rect">
            <a:avLst/>
          </a:prstGeom>
          <a:noFill/>
          <a:ln/>
        </p:spPr>
        <p:txBody>
          <a:bodyPr wrap="square" lIns="0" tIns="0" rIns="0" bIns="0" rtlCol="0" anchor="ctr"/>
          <a:lstStyle/>
          <a:p>
            <a:pPr marL="0" indent="0" algn="ctr">
              <a:buNone/>
            </a:pPr>
            <a:r>
              <a:rPr lang="en-US" sz="1000" dirty="0">
                <a:solidFill>
                  <a:schemeClr val="tx2"/>
                </a:solidFill>
              </a:rPr>
              <a:t>Upload</a:t>
            </a:r>
            <a:endParaRPr lang="en-US" sz="1000" dirty="0"/>
          </a:p>
        </p:txBody>
      </p:sp>
      <p:sp>
        <p:nvSpPr>
          <p:cNvPr id="20" name="Arrow backend to live"/>
          <p:cNvSpPr/>
          <p:nvPr/>
        </p:nvSpPr>
        <p:spPr>
          <a:xfrm>
            <a:off x="5669280" y="2880360"/>
            <a:ext cx="731520" cy="0"/>
          </a:xfrm>
          <a:prstGeom prst="line">
            <a:avLst/>
          </a:prstGeom>
          <a:noFill/>
          <a:ln w="19050">
            <a:solidFill>
              <a:schemeClr val="accent2"/>
            </a:solidFill>
            <a:prstDash val="solid"/>
            <a:tailEnd type="triangle"/>
          </a:ln>
        </p:spPr>
      </p:sp>
      <p:sp>
        <p:nvSpPr>
          <p:cNvPr id="21" name="Arrow label Capture"/>
          <p:cNvSpPr txBox="1"/>
          <p:nvPr/>
        </p:nvSpPr>
        <p:spPr>
          <a:xfrm>
            <a:off x="5669280" y="2633472"/>
            <a:ext cx="731520" cy="201168"/>
          </a:xfrm>
          <a:prstGeom prst="rect">
            <a:avLst/>
          </a:prstGeom>
          <a:noFill/>
          <a:ln/>
        </p:spPr>
        <p:txBody>
          <a:bodyPr wrap="square" lIns="0" tIns="0" rIns="0" bIns="0" rtlCol="0" anchor="ctr"/>
          <a:lstStyle/>
          <a:p>
            <a:pPr marL="0" indent="0" algn="ctr">
              <a:buNone/>
            </a:pPr>
            <a:r>
              <a:rPr lang="en-US" sz="1000" dirty="0">
                <a:solidFill>
                  <a:schemeClr val="tx2"/>
                </a:solidFill>
              </a:rPr>
              <a:t>Capture</a:t>
            </a:r>
            <a:endParaRPr lang="en-US" sz="1000" dirty="0"/>
          </a:p>
        </p:txBody>
      </p:sp>
      <p:sp>
        <p:nvSpPr>
          <p:cNvPr id="22" name="Arrow backend to automation"/>
          <p:cNvSpPr/>
          <p:nvPr/>
        </p:nvSpPr>
        <p:spPr>
          <a:xfrm>
            <a:off x="4572000" y="3291840"/>
            <a:ext cx="0" cy="365760"/>
          </a:xfrm>
          <a:prstGeom prst="line">
            <a:avLst/>
          </a:prstGeom>
          <a:noFill/>
          <a:ln w="19050">
            <a:solidFill>
              <a:schemeClr val="accent2"/>
            </a:solidFill>
            <a:prstDash val="solid"/>
            <a:tailEnd type="triangle"/>
          </a:ln>
        </p:spPr>
      </p:sp>
      <p:sp>
        <p:nvSpPr>
          <p:cNvPr id="23" name="Arrow label task"/>
          <p:cNvSpPr txBox="1"/>
          <p:nvPr/>
        </p:nvSpPr>
        <p:spPr>
          <a:xfrm>
            <a:off x="4681728" y="3364992"/>
            <a:ext cx="1371600" cy="201168"/>
          </a:xfrm>
          <a:prstGeom prst="rect">
            <a:avLst/>
          </a:prstGeom>
          <a:noFill/>
          <a:ln/>
        </p:spPr>
        <p:txBody>
          <a:bodyPr wrap="square" lIns="0" tIns="0" rIns="0" bIns="0" rtlCol="0" anchor="ctr"/>
          <a:lstStyle/>
          <a:p>
            <a:pPr marL="0" indent="0">
              <a:buNone/>
            </a:pPr>
            <a:r>
              <a:rPr lang="en-US" sz="1000" dirty="0">
                <a:solidFill>
                  <a:schemeClr val="tx2"/>
                </a:solidFill>
              </a:rPr>
              <a:t>Automation task</a:t>
            </a:r>
            <a:endParaRPr lang="en-US" sz="1000" dirty="0"/>
          </a:p>
        </p:txBody>
      </p:sp>
      <p:sp>
        <p:nvSpPr>
          <p:cNvPr id="24" name="Arrow automation to groq"/>
          <p:cNvSpPr/>
          <p:nvPr/>
        </p:nvSpPr>
        <p:spPr>
          <a:xfrm>
            <a:off x="5669280" y="4069080"/>
            <a:ext cx="731520" cy="0"/>
          </a:xfrm>
          <a:prstGeom prst="line">
            <a:avLst/>
          </a:prstGeom>
          <a:noFill/>
          <a:ln w="19050">
            <a:solidFill>
              <a:schemeClr val="accent2"/>
            </a:solidFill>
            <a:prstDash val="solid"/>
            <a:tailEnd type="triangle"/>
          </a:ln>
        </p:spPr>
      </p:sp>
      <p:sp>
        <p:nvSpPr>
          <p:cNvPr id="25" name="Arrow label HTTPS"/>
          <p:cNvSpPr txBox="1"/>
          <p:nvPr/>
        </p:nvSpPr>
        <p:spPr>
          <a:xfrm>
            <a:off x="5669280" y="3822192"/>
            <a:ext cx="731520" cy="201168"/>
          </a:xfrm>
          <a:prstGeom prst="rect">
            <a:avLst/>
          </a:prstGeom>
          <a:noFill/>
          <a:ln/>
        </p:spPr>
        <p:txBody>
          <a:bodyPr wrap="square" lIns="0" tIns="0" rIns="0" bIns="0" rtlCol="0" anchor="ctr"/>
          <a:lstStyle/>
          <a:p>
            <a:pPr marL="0" indent="0" algn="ctr">
              <a:buNone/>
            </a:pPr>
            <a:r>
              <a:rPr lang="en-US" sz="1000" dirty="0">
                <a:solidFill>
                  <a:schemeClr val="tx2"/>
                </a:solidFill>
              </a:rPr>
              <a:t>HTTPS</a:t>
            </a:r>
            <a:endParaRPr lang="en-US" sz="1000" dirty="0"/>
          </a:p>
        </p:txBody>
      </p:sp>
      <p:sp>
        <p:nvSpPr>
          <p:cNvPr id="3"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Tools and protocols</a:t>
            </a:r>
            <a:endParaRPr lang="en-US" sz="3400" dirty="0"/>
          </a:p>
        </p:txBody>
      </p:sp>
      <p:sp>
        <p:nvSpPr>
          <p:cNvPr id="4" name="Label FRONTEND"/>
          <p:cNvSpPr txBox="1"/>
          <p:nvPr/>
        </p:nvSpPr>
        <p:spPr>
          <a:xfrm>
            <a:off x="548640" y="1371600"/>
            <a:ext cx="246888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FRONTEND</a:t>
            </a:r>
            <a:endParaRPr lang="en-US" sz="1100" dirty="0"/>
          </a:p>
        </p:txBody>
      </p:sp>
      <p:sp>
        <p:nvSpPr>
          <p:cNvPr id="5" name="Stack FRONTEND"/>
          <p:cNvSpPr txBox="1"/>
          <p:nvPr/>
        </p:nvSpPr>
        <p:spPr>
          <a:xfrm>
            <a:off x="548640" y="1691640"/>
            <a:ext cx="2468880" cy="1280160"/>
          </a:xfrm>
          <a:prstGeom prst="rect">
            <a:avLst/>
          </a:prstGeom>
          <a:noFill/>
          <a:ln/>
        </p:spPr>
        <p:txBody>
          <a:bodyPr wrap="square" lIns="0" tIns="0" rIns="0" bIns="0" rtlCol="0" anchor="t"/>
          <a:lstStyle/>
          <a:p>
            <a:pPr marL="0" indent="0">
              <a:spcAft>
                <a:spcPts val="800"/>
              </a:spcAft>
              <a:buNone/>
            </a:pPr>
            <a:r>
              <a:rPr lang="en-US" sz="1600" dirty="0">
                <a:solidFill>
                  <a:schemeClr val="tx1"/>
                </a:solidFill>
              </a:rPr>
              <a:t>React 18 + Vite</a:t>
            </a:r>
            <a:endParaRPr lang="en-US" sz="1600" dirty="0"/>
          </a:p>
          <a:p>
            <a:pPr marL="0" indent="0">
              <a:spcAft>
                <a:spcPts val="800"/>
              </a:spcAft>
              <a:buNone/>
            </a:pPr>
            <a:r>
              <a:rPr lang="en-US" sz="1600" dirty="0">
                <a:solidFill>
                  <a:schemeClr val="tx1"/>
                </a:solidFill>
              </a:rPr>
              <a:t>Tailwind CSS</a:t>
            </a:r>
            <a:endParaRPr lang="en-US" sz="1600" dirty="0"/>
          </a:p>
          <a:p>
            <a:pPr marL="0" indent="0">
              <a:spcAft>
                <a:spcPts val="800"/>
              </a:spcAft>
              <a:buNone/>
            </a:pPr>
            <a:r>
              <a:rPr lang="en-US" sz="1600" dirty="0">
                <a:solidFill>
                  <a:schemeClr val="tx1"/>
                </a:solidFill>
              </a:rPr>
              <a:t>Recharts, Lucide icons</a:t>
            </a:r>
            <a:endParaRPr lang="en-US" sz="1600" dirty="0"/>
          </a:p>
        </p:txBody>
      </p:sp>
      <p:sp>
        <p:nvSpPr>
          <p:cNvPr id="6" name="Label BACKEND"/>
          <p:cNvSpPr txBox="1"/>
          <p:nvPr/>
        </p:nvSpPr>
        <p:spPr>
          <a:xfrm>
            <a:off x="3337560" y="1371600"/>
            <a:ext cx="246888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BACKEND</a:t>
            </a:r>
            <a:endParaRPr lang="en-US" sz="1100" dirty="0"/>
          </a:p>
        </p:txBody>
      </p:sp>
      <p:sp>
        <p:nvSpPr>
          <p:cNvPr id="7" name="Stack BACKEND"/>
          <p:cNvSpPr txBox="1"/>
          <p:nvPr/>
        </p:nvSpPr>
        <p:spPr>
          <a:xfrm>
            <a:off x="3337560" y="1691640"/>
            <a:ext cx="2468880" cy="1280160"/>
          </a:xfrm>
          <a:prstGeom prst="rect">
            <a:avLst/>
          </a:prstGeom>
          <a:noFill/>
          <a:ln/>
        </p:spPr>
        <p:txBody>
          <a:bodyPr wrap="square" lIns="0" tIns="0" rIns="0" bIns="0" rtlCol="0" anchor="t"/>
          <a:lstStyle/>
          <a:p>
            <a:pPr marL="0" indent="0">
              <a:spcAft>
                <a:spcPts val="800"/>
              </a:spcAft>
              <a:buNone/>
            </a:pPr>
            <a:r>
              <a:rPr lang="en-US" sz="1600" dirty="0">
                <a:solidFill>
                  <a:schemeClr val="tx1"/>
                </a:solidFill>
              </a:rPr>
              <a:t>Python 3.10+, FastAPI</a:t>
            </a:r>
            <a:endParaRPr lang="en-US" sz="1600" dirty="0"/>
          </a:p>
          <a:p>
            <a:pPr marL="0" indent="0">
              <a:spcAft>
                <a:spcPts val="800"/>
              </a:spcAft>
              <a:buNone/>
            </a:pPr>
            <a:r>
              <a:rPr lang="en-US" sz="1600" dirty="0">
                <a:solidFill>
                  <a:schemeClr val="tx1"/>
                </a:solidFill>
              </a:rPr>
              <a:t>Uvicorn, HTTPX</a:t>
            </a:r>
            <a:endParaRPr lang="en-US" sz="1600" dirty="0"/>
          </a:p>
          <a:p>
            <a:pPr marL="0" indent="0">
              <a:spcAft>
                <a:spcPts val="800"/>
              </a:spcAft>
              <a:buNone/>
            </a:pPr>
            <a:r>
              <a:rPr lang="en-US" sz="1600" dirty="0">
                <a:solidFill>
                  <a:schemeClr val="tx1"/>
                </a:solidFill>
              </a:rPr>
              <a:t>Scapy PcapReader</a:t>
            </a:r>
            <a:endParaRPr lang="en-US" sz="1600" dirty="0"/>
          </a:p>
        </p:txBody>
      </p:sp>
      <p:sp>
        <p:nvSpPr>
          <p:cNvPr id="8" name="Label AUTOMATION AND AI"/>
          <p:cNvSpPr txBox="1"/>
          <p:nvPr/>
        </p:nvSpPr>
        <p:spPr>
          <a:xfrm>
            <a:off x="6126480" y="1371600"/>
            <a:ext cx="246888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AUTOMATION AND AI</a:t>
            </a:r>
            <a:endParaRPr lang="en-US" sz="1100" dirty="0"/>
          </a:p>
        </p:txBody>
      </p:sp>
      <p:sp>
        <p:nvSpPr>
          <p:cNvPr id="9" name="Stack AUTOMATION AND AI"/>
          <p:cNvSpPr txBox="1"/>
          <p:nvPr/>
        </p:nvSpPr>
        <p:spPr>
          <a:xfrm>
            <a:off x="6126480" y="1691640"/>
            <a:ext cx="2468880" cy="1280160"/>
          </a:xfrm>
          <a:prstGeom prst="rect">
            <a:avLst/>
          </a:prstGeom>
          <a:noFill/>
          <a:ln/>
        </p:spPr>
        <p:txBody>
          <a:bodyPr wrap="square" lIns="0" tIns="0" rIns="0" bIns="0" rtlCol="0" anchor="t"/>
          <a:lstStyle/>
          <a:p>
            <a:pPr marL="0" indent="0">
              <a:spcAft>
                <a:spcPts val="800"/>
              </a:spcAft>
              <a:buNone/>
            </a:pPr>
            <a:r>
              <a:rPr lang="en-US" sz="1600" dirty="0">
                <a:solidFill>
                  <a:schemeClr val="tx1"/>
                </a:solidFill>
              </a:rPr>
              <a:t>Playwright + Chrome</a:t>
            </a:r>
            <a:endParaRPr lang="en-US" sz="1600" dirty="0"/>
          </a:p>
          <a:p>
            <a:pPr marL="0" indent="0">
              <a:spcAft>
                <a:spcPts val="800"/>
              </a:spcAft>
              <a:buNone/>
            </a:pPr>
            <a:r>
              <a:rPr lang="en-US" sz="1600" dirty="0">
                <a:solidFill>
                  <a:schemeClr val="tx1"/>
                </a:solidFill>
              </a:rPr>
              <a:t>Groq API (plans, Q&amp;A)</a:t>
            </a:r>
            <a:endParaRPr lang="en-US" sz="1600" dirty="0"/>
          </a:p>
          <a:p>
            <a:pPr marL="0" indent="0">
              <a:spcAft>
                <a:spcPts val="800"/>
              </a:spcAft>
              <a:buNone/>
            </a:pPr>
            <a:r>
              <a:rPr lang="en-US" sz="1600" dirty="0">
                <a:solidFill>
                  <a:schemeClr val="tx1"/>
                </a:solidFill>
              </a:rPr>
              <a:t>Npcap for live capture</a:t>
            </a:r>
            <a:endParaRPr lang="en-US" sz="1600" dirty="0"/>
          </a:p>
        </p:txBody>
      </p:sp>
      <p:sp>
        <p:nvSpPr>
          <p:cNvPr id="10" name="Protocol panel"/>
          <p:cNvSpPr/>
          <p:nvPr/>
        </p:nvSpPr>
        <p:spPr>
          <a:xfrm>
            <a:off x="548640" y="3200400"/>
            <a:ext cx="8046720" cy="1280160"/>
          </a:xfrm>
          <a:prstGeom prst="roundRect">
            <a:avLst>
              <a:gd name="adj" fmla="val 5714"/>
            </a:avLst>
          </a:prstGeom>
          <a:solidFill>
            <a:schemeClr val="bg2"/>
          </a:solidFill>
          <a:ln w="12700">
            <a:solidFill>
              <a:schemeClr val="bg2"/>
            </a:solidFill>
            <a:prstDash val="solid"/>
          </a:ln>
        </p:spPr>
      </p:sp>
      <p:sp>
        <p:nvSpPr>
          <p:cNvPr id="11" name="Protocol cell 1"/>
          <p:cNvSpPr txBox="1"/>
          <p:nvPr/>
        </p:nvSpPr>
        <p:spPr>
          <a:xfrm>
            <a:off x="777240" y="3291840"/>
            <a:ext cx="2468880" cy="1097280"/>
          </a:xfrm>
          <a:prstGeom prst="rect">
            <a:avLst/>
          </a:prstGeom>
          <a:noFill/>
          <a:ln/>
        </p:spPr>
        <p:txBody>
          <a:bodyPr wrap="square" lIns="0" tIns="0" rIns="0" bIns="0" rtlCol="0" anchor="ctr"/>
          <a:lstStyle/>
          <a:p>
            <a:pPr marL="0" indent="0">
              <a:buNone/>
            </a:pPr>
            <a:r>
              <a:rPr lang="en-US" sz="2000" b="1" dirty="0">
                <a:solidFill>
                  <a:schemeClr val="accent1"/>
                </a:solidFill>
              </a:rPr>
              <a:t>HTTP</a:t>
            </a:r>
            <a:endParaRPr lang="en-US" sz="2000" dirty="0"/>
          </a:p>
          <a:p>
            <a:pPr marL="0" indent="0">
              <a:buNone/>
            </a:pPr>
            <a:r>
              <a:rPr lang="en-US" sz="1400" dirty="0">
                <a:solidFill>
                  <a:schemeClr val="tx1"/>
                </a:solidFill>
              </a:rPr>
              <a:t>Uploads and REST APIs</a:t>
            </a:r>
            <a:endParaRPr lang="en-US" sz="2000" dirty="0"/>
          </a:p>
        </p:txBody>
      </p:sp>
      <p:sp>
        <p:nvSpPr>
          <p:cNvPr id="12" name="Protocol cell 2"/>
          <p:cNvSpPr txBox="1"/>
          <p:nvPr/>
        </p:nvSpPr>
        <p:spPr>
          <a:xfrm>
            <a:off x="3474720" y="3291840"/>
            <a:ext cx="2468880" cy="1097280"/>
          </a:xfrm>
          <a:prstGeom prst="rect">
            <a:avLst/>
          </a:prstGeom>
          <a:noFill/>
          <a:ln/>
        </p:spPr>
        <p:txBody>
          <a:bodyPr wrap="square" lIns="0" tIns="0" rIns="0" bIns="0" rtlCol="0" anchor="ctr"/>
          <a:lstStyle/>
          <a:p>
            <a:pPr marL="0" indent="0">
              <a:buNone/>
            </a:pPr>
            <a:r>
              <a:rPr lang="en-US" sz="2000" b="1" dirty="0">
                <a:solidFill>
                  <a:schemeClr val="accent1"/>
                </a:solidFill>
              </a:rPr>
              <a:t>WebSocket</a:t>
            </a:r>
            <a:endParaRPr lang="en-US" sz="2000" dirty="0"/>
          </a:p>
          <a:p>
            <a:pPr marL="0" indent="0">
              <a:buNone/>
            </a:pPr>
            <a:r>
              <a:rPr lang="en-US" sz="1400" dirty="0">
                <a:solidFill>
                  <a:schemeClr val="tx1"/>
                </a:solidFill>
              </a:rPr>
              <a:t>Streams plan, step and packet events</a:t>
            </a:r>
            <a:endParaRPr lang="en-US" sz="2000" dirty="0"/>
          </a:p>
        </p:txBody>
      </p:sp>
      <p:sp>
        <p:nvSpPr>
          <p:cNvPr id="13" name="Protocol cell 3"/>
          <p:cNvSpPr txBox="1"/>
          <p:nvPr/>
        </p:nvSpPr>
        <p:spPr>
          <a:xfrm>
            <a:off x="6172200" y="3291840"/>
            <a:ext cx="2468880" cy="1097280"/>
          </a:xfrm>
          <a:prstGeom prst="rect">
            <a:avLst/>
          </a:prstGeom>
          <a:noFill/>
          <a:ln/>
        </p:spPr>
        <p:txBody>
          <a:bodyPr wrap="square" lIns="0" tIns="0" rIns="0" bIns="0" rtlCol="0" anchor="ctr"/>
          <a:lstStyle/>
          <a:p>
            <a:pPr marL="0" indent="0">
              <a:buNone/>
            </a:pPr>
            <a:r>
              <a:rPr lang="en-US" sz="2000" b="1" dirty="0">
                <a:solidFill>
                  <a:schemeClr val="accent1"/>
                </a:solidFill>
              </a:rPr>
              <a:t>localhost:5173</a:t>
            </a:r>
            <a:endParaRPr lang="en-US" sz="2000" dirty="0"/>
          </a:p>
          <a:p>
            <a:pPr marL="0" indent="0">
              <a:buNone/>
            </a:pPr>
            <a:r>
              <a:rPr lang="en-US" sz="1400" dirty="0">
                <a:solidFill>
                  <a:schemeClr val="tx1"/>
                </a:solidFill>
              </a:rPr>
              <a:t>UI talks to the API on 127.0.0.1:8000</a:t>
            </a:r>
            <a:endParaRPr lang="en-US" sz="2000" dirty="0"/>
          </a:p>
        </p:txBody>
      </p:sp>
      <p:sp>
        <p:nvSpPr>
          <p:cNvPr id="25"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How it works</a:t>
            </a:r>
            <a:endParaRPr lang="en-US" sz="3400" dirty="0"/>
          </a:p>
        </p:txBody>
      </p:sp>
      <p:sp>
        <p:nvSpPr>
          <p:cNvPr id="4" name="Offline label"/>
          <p:cNvSpPr txBox="1"/>
          <p:nvPr/>
        </p:nvSpPr>
        <p:spPr>
          <a:xfrm>
            <a:off x="548640" y="132588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OFFLINE ANALYSIS</a:t>
            </a:r>
            <a:endParaRPr lang="en-US" sz="1100" dirty="0"/>
          </a:p>
        </p:txBody>
      </p:sp>
      <p:sp>
        <p:nvSpPr>
          <p:cNvPr id="5" name="Offline step 1"/>
          <p:cNvSpPr/>
          <p:nvPr/>
        </p:nvSpPr>
        <p:spPr>
          <a:xfrm>
            <a:off x="548640" y="1627632"/>
            <a:ext cx="1158240" cy="640080"/>
          </a:xfrm>
          <a:prstGeom prst="roundRect">
            <a:avLst>
              <a:gd name="adj" fmla="val 11429"/>
            </a:avLst>
          </a:prstGeom>
          <a:solidFill>
            <a:schemeClr val="bg2"/>
          </a:solidFill>
          <a:ln>
            <a:solidFill>
              <a:schemeClr val="bg2"/>
            </a:solidFill>
          </a:ln>
        </p:spPr>
        <p:txBody>
          <a:bodyPr wrap="square" lIns="381" tIns="381" rIns="381" bIns="381" rtlCol="0" anchor="ctr"/>
          <a:lstStyle/>
          <a:p>
            <a:pPr marL="0" indent="0" algn="ctr">
              <a:buNone/>
            </a:pPr>
            <a:r>
              <a:rPr lang="en-US" sz="1400" dirty="0">
                <a:solidFill>
                  <a:schemeClr val="tx1"/>
                </a:solidFill>
              </a:rPr>
              <a:t>Upload</a:t>
            </a:r>
            <a:endParaRPr lang="en-US" sz="1400" dirty="0"/>
          </a:p>
        </p:txBody>
      </p:sp>
      <p:sp>
        <p:nvSpPr>
          <p:cNvPr id="6" name="Offline arrow 1"/>
          <p:cNvSpPr/>
          <p:nvPr/>
        </p:nvSpPr>
        <p:spPr>
          <a:xfrm>
            <a:off x="1734312" y="1947672"/>
            <a:ext cx="164592" cy="0"/>
          </a:xfrm>
          <a:prstGeom prst="line">
            <a:avLst/>
          </a:prstGeom>
          <a:noFill/>
          <a:ln w="19050">
            <a:solidFill>
              <a:schemeClr val="accent2"/>
            </a:solidFill>
            <a:prstDash val="solid"/>
            <a:tailEnd type="triangle"/>
          </a:ln>
        </p:spPr>
      </p:sp>
      <p:sp>
        <p:nvSpPr>
          <p:cNvPr id="7" name="Offline step 2"/>
          <p:cNvSpPr/>
          <p:nvPr/>
        </p:nvSpPr>
        <p:spPr>
          <a:xfrm>
            <a:off x="1926336" y="1627632"/>
            <a:ext cx="1158240" cy="640080"/>
          </a:xfrm>
          <a:prstGeom prst="roundRect">
            <a:avLst>
              <a:gd name="adj" fmla="val 11429"/>
            </a:avLst>
          </a:prstGeom>
          <a:solidFill>
            <a:schemeClr val="bg2"/>
          </a:solidFill>
          <a:ln>
            <a:solidFill>
              <a:schemeClr val="bg2"/>
            </a:solidFill>
          </a:ln>
        </p:spPr>
        <p:txBody>
          <a:bodyPr wrap="square" lIns="381" tIns="381" rIns="381" bIns="381" rtlCol="0" anchor="ctr"/>
          <a:lstStyle/>
          <a:p>
            <a:pPr marL="0" indent="0" algn="ctr">
              <a:buNone/>
            </a:pPr>
            <a:r>
              <a:rPr lang="en-US" sz="1400" dirty="0">
                <a:solidFill>
                  <a:schemeClr val="tx1"/>
                </a:solidFill>
              </a:rPr>
              <a:t>Validate</a:t>
            </a:r>
            <a:endParaRPr lang="en-US" sz="1400" dirty="0"/>
          </a:p>
        </p:txBody>
      </p:sp>
      <p:sp>
        <p:nvSpPr>
          <p:cNvPr id="8" name="Offline arrow 2"/>
          <p:cNvSpPr/>
          <p:nvPr/>
        </p:nvSpPr>
        <p:spPr>
          <a:xfrm>
            <a:off x="3112008" y="1947672"/>
            <a:ext cx="164592" cy="0"/>
          </a:xfrm>
          <a:prstGeom prst="line">
            <a:avLst/>
          </a:prstGeom>
          <a:noFill/>
          <a:ln w="19050">
            <a:solidFill>
              <a:schemeClr val="accent2"/>
            </a:solidFill>
            <a:prstDash val="solid"/>
            <a:tailEnd type="triangle"/>
          </a:ln>
        </p:spPr>
      </p:sp>
      <p:sp>
        <p:nvSpPr>
          <p:cNvPr id="9" name="Offline step 3"/>
          <p:cNvSpPr/>
          <p:nvPr/>
        </p:nvSpPr>
        <p:spPr>
          <a:xfrm>
            <a:off x="3304032" y="1627632"/>
            <a:ext cx="1158240" cy="640080"/>
          </a:xfrm>
          <a:prstGeom prst="roundRect">
            <a:avLst>
              <a:gd name="adj" fmla="val 11429"/>
            </a:avLst>
          </a:prstGeom>
          <a:solidFill>
            <a:schemeClr val="bg2"/>
          </a:solidFill>
          <a:ln>
            <a:solidFill>
              <a:schemeClr val="bg2"/>
            </a:solidFill>
          </a:ln>
        </p:spPr>
        <p:txBody>
          <a:bodyPr wrap="square" lIns="381" tIns="381" rIns="381" bIns="381" rtlCol="0" anchor="ctr"/>
          <a:lstStyle/>
          <a:p>
            <a:pPr marL="0" indent="0" algn="ctr">
              <a:buNone/>
            </a:pPr>
            <a:r>
              <a:rPr lang="en-US" sz="1400" dirty="0">
                <a:solidFill>
                  <a:schemeClr val="tx1"/>
                </a:solidFill>
              </a:rPr>
              <a:t>Parse</a:t>
            </a:r>
            <a:endParaRPr lang="en-US" sz="1400" dirty="0"/>
          </a:p>
        </p:txBody>
      </p:sp>
      <p:sp>
        <p:nvSpPr>
          <p:cNvPr id="10" name="Offline arrow 3"/>
          <p:cNvSpPr/>
          <p:nvPr/>
        </p:nvSpPr>
        <p:spPr>
          <a:xfrm>
            <a:off x="4489704" y="1947672"/>
            <a:ext cx="164592" cy="0"/>
          </a:xfrm>
          <a:prstGeom prst="line">
            <a:avLst/>
          </a:prstGeom>
          <a:noFill/>
          <a:ln w="19050">
            <a:solidFill>
              <a:schemeClr val="accent2"/>
            </a:solidFill>
            <a:prstDash val="solid"/>
            <a:tailEnd type="triangle"/>
          </a:ln>
        </p:spPr>
      </p:sp>
      <p:sp>
        <p:nvSpPr>
          <p:cNvPr id="11" name="Offline step 4"/>
          <p:cNvSpPr/>
          <p:nvPr/>
        </p:nvSpPr>
        <p:spPr>
          <a:xfrm>
            <a:off x="4681728" y="1627632"/>
            <a:ext cx="1158240" cy="640080"/>
          </a:xfrm>
          <a:prstGeom prst="roundRect">
            <a:avLst>
              <a:gd name="adj" fmla="val 11429"/>
            </a:avLst>
          </a:prstGeom>
          <a:solidFill>
            <a:schemeClr val="bg2"/>
          </a:solidFill>
          <a:ln>
            <a:solidFill>
              <a:schemeClr val="bg2"/>
            </a:solidFill>
          </a:ln>
        </p:spPr>
        <p:txBody>
          <a:bodyPr wrap="square" lIns="381" tIns="381" rIns="381" bIns="381" rtlCol="0" anchor="ctr"/>
          <a:lstStyle/>
          <a:p>
            <a:pPr marL="0" indent="0" algn="ctr">
              <a:buNone/>
            </a:pPr>
            <a:r>
              <a:rPr lang="en-US" sz="1400" dirty="0">
                <a:solidFill>
                  <a:schemeClr val="tx1"/>
                </a:solidFill>
              </a:rPr>
              <a:t>Classify</a:t>
            </a:r>
            <a:endParaRPr lang="en-US" sz="1400" dirty="0"/>
          </a:p>
        </p:txBody>
      </p:sp>
      <p:sp>
        <p:nvSpPr>
          <p:cNvPr id="12" name="Offline arrow 4"/>
          <p:cNvSpPr/>
          <p:nvPr/>
        </p:nvSpPr>
        <p:spPr>
          <a:xfrm>
            <a:off x="5867400" y="1947672"/>
            <a:ext cx="164592" cy="0"/>
          </a:xfrm>
          <a:prstGeom prst="line">
            <a:avLst/>
          </a:prstGeom>
          <a:noFill/>
          <a:ln w="19050">
            <a:solidFill>
              <a:schemeClr val="accent2"/>
            </a:solidFill>
            <a:prstDash val="solid"/>
            <a:tailEnd type="triangle"/>
          </a:ln>
        </p:spPr>
      </p:sp>
      <p:sp>
        <p:nvSpPr>
          <p:cNvPr id="13" name="Offline step 5"/>
          <p:cNvSpPr/>
          <p:nvPr/>
        </p:nvSpPr>
        <p:spPr>
          <a:xfrm>
            <a:off x="6059424" y="1627632"/>
            <a:ext cx="1158240" cy="640080"/>
          </a:xfrm>
          <a:prstGeom prst="roundRect">
            <a:avLst>
              <a:gd name="adj" fmla="val 11429"/>
            </a:avLst>
          </a:prstGeom>
          <a:solidFill>
            <a:schemeClr val="bg2"/>
          </a:solidFill>
          <a:ln>
            <a:solidFill>
              <a:schemeClr val="bg2"/>
            </a:solidFill>
          </a:ln>
        </p:spPr>
        <p:txBody>
          <a:bodyPr wrap="square" lIns="381" tIns="381" rIns="381" bIns="381" rtlCol="0" anchor="ctr"/>
          <a:lstStyle/>
          <a:p>
            <a:pPr marL="0" indent="0" algn="ctr">
              <a:buNone/>
            </a:pPr>
            <a:r>
              <a:rPr lang="en-US" sz="1400" dirty="0">
                <a:solidFill>
                  <a:schemeClr val="tx1"/>
                </a:solidFill>
              </a:rPr>
              <a:t>Aggregate</a:t>
            </a:r>
            <a:endParaRPr lang="en-US" sz="1400" dirty="0"/>
          </a:p>
        </p:txBody>
      </p:sp>
      <p:sp>
        <p:nvSpPr>
          <p:cNvPr id="14" name="Offline arrow 5"/>
          <p:cNvSpPr/>
          <p:nvPr/>
        </p:nvSpPr>
        <p:spPr>
          <a:xfrm>
            <a:off x="7245096" y="1947672"/>
            <a:ext cx="164592" cy="0"/>
          </a:xfrm>
          <a:prstGeom prst="line">
            <a:avLst/>
          </a:prstGeom>
          <a:noFill/>
          <a:ln w="19050">
            <a:solidFill>
              <a:schemeClr val="accent2"/>
            </a:solidFill>
            <a:prstDash val="solid"/>
            <a:tailEnd type="triangle"/>
          </a:ln>
        </p:spPr>
      </p:sp>
      <p:sp>
        <p:nvSpPr>
          <p:cNvPr id="15" name="Offline step 6"/>
          <p:cNvSpPr/>
          <p:nvPr/>
        </p:nvSpPr>
        <p:spPr>
          <a:xfrm>
            <a:off x="7437120" y="1627632"/>
            <a:ext cx="1158240" cy="640080"/>
          </a:xfrm>
          <a:prstGeom prst="roundRect">
            <a:avLst>
              <a:gd name="adj" fmla="val 11429"/>
            </a:avLst>
          </a:prstGeom>
          <a:solidFill>
            <a:schemeClr val="accent1"/>
          </a:solidFill>
          <a:ln>
            <a:solidFill>
              <a:schemeClr val="accent1"/>
            </a:solidFill>
          </a:ln>
        </p:spPr>
        <p:txBody>
          <a:bodyPr wrap="square" lIns="381" tIns="381" rIns="381" bIns="381" rtlCol="0" anchor="ctr"/>
          <a:lstStyle/>
          <a:p>
            <a:pPr marL="0" indent="0" algn="ctr">
              <a:buNone/>
            </a:pPr>
            <a:r>
              <a:rPr lang="en-US" sz="1400" b="1" dirty="0">
                <a:solidFill>
                  <a:schemeClr val="bg1"/>
                </a:solidFill>
              </a:rPr>
              <a:t>Dashboard</a:t>
            </a:r>
            <a:endParaRPr lang="en-US" sz="1400" dirty="0"/>
          </a:p>
        </p:txBody>
      </p:sp>
      <p:sp>
        <p:nvSpPr>
          <p:cNvPr id="16" name="Offline caption"/>
          <p:cNvSpPr txBox="1"/>
          <p:nvPr/>
        </p:nvSpPr>
        <p:spPr>
          <a:xfrm>
            <a:off x="548640" y="2350008"/>
            <a:ext cx="8046720" cy="274320"/>
          </a:xfrm>
          <a:prstGeom prst="rect">
            <a:avLst/>
          </a:prstGeom>
          <a:noFill/>
          <a:ln/>
        </p:spPr>
        <p:txBody>
          <a:bodyPr wrap="square" lIns="0" tIns="0" rIns="0" bIns="0" rtlCol="0" anchor="ctr"/>
          <a:lstStyle/>
          <a:p>
            <a:pPr marL="0" indent="0">
              <a:buNone/>
            </a:pPr>
            <a:r>
              <a:rPr lang="en-US" sz="1400" dirty="0">
                <a:solidFill>
                  <a:schemeClr val="tx2"/>
                </a:solidFill>
              </a:rPr>
              <a:t>Files up to 200 MB. Wrong extensions and invalid headers are rejected before parsing.</a:t>
            </a:r>
            <a:endParaRPr lang="en-US" sz="1400" dirty="0"/>
          </a:p>
        </p:txBody>
      </p:sp>
      <p:sp>
        <p:nvSpPr>
          <p:cNvPr id="17" name="AI label"/>
          <p:cNvSpPr txBox="1"/>
          <p:nvPr/>
        </p:nvSpPr>
        <p:spPr>
          <a:xfrm>
            <a:off x="548640" y="30175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AI AUTOMATION</a:t>
            </a:r>
            <a:endParaRPr lang="en-US" sz="1100" dirty="0"/>
          </a:p>
        </p:txBody>
      </p:sp>
      <p:sp>
        <p:nvSpPr>
          <p:cNvPr id="18" name="AI step 1"/>
          <p:cNvSpPr/>
          <p:nvPr/>
        </p:nvSpPr>
        <p:spPr>
          <a:xfrm>
            <a:off x="548640" y="3319272"/>
            <a:ext cx="1433779" cy="640080"/>
          </a:xfrm>
          <a:prstGeom prst="roundRect">
            <a:avLst>
              <a:gd name="adj" fmla="val 11429"/>
            </a:avLst>
          </a:prstGeom>
          <a:solidFill>
            <a:schemeClr val="bg2"/>
          </a:solidFill>
          <a:ln>
            <a:solidFill>
              <a:schemeClr val="bg2"/>
            </a:solidFill>
          </a:ln>
        </p:spPr>
        <p:txBody>
          <a:bodyPr wrap="square" lIns="381" tIns="381" rIns="381" bIns="381" rtlCol="0" anchor="ctr"/>
          <a:lstStyle/>
          <a:p>
            <a:pPr marL="0" indent="0" algn="ctr">
              <a:buNone/>
            </a:pPr>
            <a:r>
              <a:rPr lang="en-US" sz="1400" dirty="0">
                <a:solidFill>
                  <a:schemeClr val="tx1"/>
                </a:solidFill>
              </a:rPr>
              <a:t>Prompt</a:t>
            </a:r>
            <a:endParaRPr lang="en-US" sz="1400" dirty="0"/>
          </a:p>
        </p:txBody>
      </p:sp>
      <p:sp>
        <p:nvSpPr>
          <p:cNvPr id="19" name="AI arrow 1"/>
          <p:cNvSpPr/>
          <p:nvPr/>
        </p:nvSpPr>
        <p:spPr>
          <a:xfrm>
            <a:off x="2009851" y="3639312"/>
            <a:ext cx="164592" cy="0"/>
          </a:xfrm>
          <a:prstGeom prst="line">
            <a:avLst/>
          </a:prstGeom>
          <a:noFill/>
          <a:ln w="19050">
            <a:solidFill>
              <a:schemeClr val="accent2"/>
            </a:solidFill>
            <a:prstDash val="solid"/>
            <a:tailEnd type="triangle"/>
          </a:ln>
        </p:spPr>
      </p:sp>
      <p:sp>
        <p:nvSpPr>
          <p:cNvPr id="20" name="AI step 2"/>
          <p:cNvSpPr/>
          <p:nvPr/>
        </p:nvSpPr>
        <p:spPr>
          <a:xfrm>
            <a:off x="2201875" y="3319272"/>
            <a:ext cx="1433779" cy="640080"/>
          </a:xfrm>
          <a:prstGeom prst="roundRect">
            <a:avLst>
              <a:gd name="adj" fmla="val 11429"/>
            </a:avLst>
          </a:prstGeom>
          <a:solidFill>
            <a:schemeClr val="bg2"/>
          </a:solidFill>
          <a:ln>
            <a:solidFill>
              <a:schemeClr val="bg2"/>
            </a:solidFill>
          </a:ln>
        </p:spPr>
        <p:txBody>
          <a:bodyPr wrap="square" lIns="381" tIns="381" rIns="381" bIns="381" rtlCol="0" anchor="ctr"/>
          <a:lstStyle/>
          <a:p>
            <a:pPr marL="0" indent="0" algn="ctr">
              <a:buNone/>
            </a:pPr>
            <a:r>
              <a:rPr lang="en-US" sz="1400" dirty="0">
                <a:solidFill>
                  <a:schemeClr val="tx1"/>
                </a:solidFill>
              </a:rPr>
              <a:t>Groq plan</a:t>
            </a:r>
            <a:endParaRPr lang="en-US" sz="1400" dirty="0"/>
          </a:p>
        </p:txBody>
      </p:sp>
      <p:sp>
        <p:nvSpPr>
          <p:cNvPr id="21" name="AI arrow 2"/>
          <p:cNvSpPr/>
          <p:nvPr/>
        </p:nvSpPr>
        <p:spPr>
          <a:xfrm>
            <a:off x="3663086" y="3639312"/>
            <a:ext cx="164592" cy="0"/>
          </a:xfrm>
          <a:prstGeom prst="line">
            <a:avLst/>
          </a:prstGeom>
          <a:noFill/>
          <a:ln w="19050">
            <a:solidFill>
              <a:schemeClr val="accent2"/>
            </a:solidFill>
            <a:prstDash val="solid"/>
            <a:tailEnd type="triangle"/>
          </a:ln>
        </p:spPr>
      </p:sp>
      <p:sp>
        <p:nvSpPr>
          <p:cNvPr id="22" name="AI step 3"/>
          <p:cNvSpPr/>
          <p:nvPr/>
        </p:nvSpPr>
        <p:spPr>
          <a:xfrm>
            <a:off x="3855110" y="3319272"/>
            <a:ext cx="1433779" cy="640080"/>
          </a:xfrm>
          <a:prstGeom prst="roundRect">
            <a:avLst>
              <a:gd name="adj" fmla="val 11429"/>
            </a:avLst>
          </a:prstGeom>
          <a:solidFill>
            <a:schemeClr val="bg2"/>
          </a:solidFill>
          <a:ln>
            <a:solidFill>
              <a:schemeClr val="bg2"/>
            </a:solidFill>
          </a:ln>
        </p:spPr>
        <p:txBody>
          <a:bodyPr wrap="square" lIns="381" tIns="381" rIns="381" bIns="381" rtlCol="0" anchor="ctr"/>
          <a:lstStyle/>
          <a:p>
            <a:pPr marL="0" indent="0" algn="ctr">
              <a:buNone/>
            </a:pPr>
            <a:r>
              <a:rPr lang="en-US" sz="1400" dirty="0">
                <a:solidFill>
                  <a:schemeClr val="tx1"/>
                </a:solidFill>
              </a:rPr>
              <a:t>Validate steps</a:t>
            </a:r>
            <a:endParaRPr lang="en-US" sz="1400" dirty="0"/>
          </a:p>
        </p:txBody>
      </p:sp>
      <p:sp>
        <p:nvSpPr>
          <p:cNvPr id="23" name="AI arrow 3"/>
          <p:cNvSpPr/>
          <p:nvPr/>
        </p:nvSpPr>
        <p:spPr>
          <a:xfrm>
            <a:off x="5316322" y="3639312"/>
            <a:ext cx="164592" cy="0"/>
          </a:xfrm>
          <a:prstGeom prst="line">
            <a:avLst/>
          </a:prstGeom>
          <a:noFill/>
          <a:ln w="19050">
            <a:solidFill>
              <a:schemeClr val="accent2"/>
            </a:solidFill>
            <a:prstDash val="solid"/>
            <a:tailEnd type="triangle"/>
          </a:ln>
        </p:spPr>
      </p:sp>
      <p:sp>
        <p:nvSpPr>
          <p:cNvPr id="24" name="AI step 4"/>
          <p:cNvSpPr/>
          <p:nvPr/>
        </p:nvSpPr>
        <p:spPr>
          <a:xfrm>
            <a:off x="5508346" y="3319272"/>
            <a:ext cx="1433779" cy="640080"/>
          </a:xfrm>
          <a:prstGeom prst="roundRect">
            <a:avLst>
              <a:gd name="adj" fmla="val 11429"/>
            </a:avLst>
          </a:prstGeom>
          <a:solidFill>
            <a:schemeClr val="bg2"/>
          </a:solidFill>
          <a:ln>
            <a:solidFill>
              <a:schemeClr val="bg2"/>
            </a:solidFill>
          </a:ln>
        </p:spPr>
        <p:txBody>
          <a:bodyPr wrap="square" lIns="381" tIns="381" rIns="381" bIns="381" rtlCol="0" anchor="ctr"/>
          <a:lstStyle/>
          <a:p>
            <a:pPr marL="0" indent="0" algn="ctr">
              <a:buNone/>
            </a:pPr>
            <a:r>
              <a:rPr lang="en-US" sz="1400" dirty="0">
                <a:solidFill>
                  <a:schemeClr val="tx1"/>
                </a:solidFill>
              </a:rPr>
              <a:t>Playwright</a:t>
            </a:r>
            <a:endParaRPr lang="en-US" sz="1400" dirty="0"/>
          </a:p>
        </p:txBody>
      </p:sp>
      <p:sp>
        <p:nvSpPr>
          <p:cNvPr id="25" name="AI arrow 4"/>
          <p:cNvSpPr/>
          <p:nvPr/>
        </p:nvSpPr>
        <p:spPr>
          <a:xfrm>
            <a:off x="6969557" y="3639312"/>
            <a:ext cx="164592" cy="0"/>
          </a:xfrm>
          <a:prstGeom prst="line">
            <a:avLst/>
          </a:prstGeom>
          <a:noFill/>
          <a:ln w="19050">
            <a:solidFill>
              <a:schemeClr val="accent2"/>
            </a:solidFill>
            <a:prstDash val="solid"/>
            <a:tailEnd type="triangle"/>
          </a:ln>
        </p:spPr>
      </p:sp>
      <p:sp>
        <p:nvSpPr>
          <p:cNvPr id="26" name="AI step 5"/>
          <p:cNvSpPr/>
          <p:nvPr/>
        </p:nvSpPr>
        <p:spPr>
          <a:xfrm>
            <a:off x="7161581" y="3319272"/>
            <a:ext cx="1433779" cy="640080"/>
          </a:xfrm>
          <a:prstGeom prst="roundRect">
            <a:avLst>
              <a:gd name="adj" fmla="val 11429"/>
            </a:avLst>
          </a:prstGeom>
          <a:solidFill>
            <a:schemeClr val="accent1"/>
          </a:solidFill>
          <a:ln>
            <a:solidFill>
              <a:schemeClr val="accent1"/>
            </a:solidFill>
          </a:ln>
        </p:spPr>
        <p:txBody>
          <a:bodyPr wrap="square" lIns="381" tIns="381" rIns="381" bIns="381" rtlCol="0" anchor="ctr"/>
          <a:lstStyle/>
          <a:p>
            <a:pPr marL="0" indent="0" algn="ctr">
              <a:buNone/>
            </a:pPr>
            <a:r>
              <a:rPr lang="en-US" sz="1400" b="1" dirty="0">
                <a:solidFill>
                  <a:schemeClr val="bg1"/>
                </a:solidFill>
              </a:rPr>
              <a:t>Live capture</a:t>
            </a:r>
            <a:endParaRPr lang="en-US" sz="1400" dirty="0"/>
          </a:p>
        </p:txBody>
      </p:sp>
      <p:sp>
        <p:nvSpPr>
          <p:cNvPr id="27" name="AI caption"/>
          <p:cNvSpPr txBox="1"/>
          <p:nvPr/>
        </p:nvSpPr>
        <p:spPr>
          <a:xfrm>
            <a:off x="548640" y="4041648"/>
            <a:ext cx="8046720" cy="274320"/>
          </a:xfrm>
          <a:prstGeom prst="rect">
            <a:avLst/>
          </a:prstGeom>
          <a:noFill/>
          <a:ln/>
        </p:spPr>
        <p:txBody>
          <a:bodyPr wrap="square" lIns="0" tIns="0" rIns="0" bIns="0" rtlCol="0" anchor="ctr"/>
          <a:lstStyle/>
          <a:p>
            <a:pPr marL="0" indent="0">
              <a:buNone/>
            </a:pPr>
            <a:r>
              <a:rPr lang="en-US" sz="1400" dirty="0">
                <a:solidFill>
                  <a:schemeClr val="tx2"/>
                </a:solidFill>
              </a:rPr>
              <a:t>Runs only on allowed sites: YouTube, GitHub, Google, Wikipedia, LinkedIn. Capture is optional.</a:t>
            </a:r>
            <a:endParaRPr lang="en-US" sz="1400" dirty="0"/>
          </a:p>
        </p:txBody>
      </p:sp>
      <p:sp>
        <p:nvSpPr>
          <p:cNvPr id="3"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Running Nethryx</a:t>
            </a:r>
            <a:endParaRPr lang="en-US" sz="3400" dirty="0"/>
          </a:p>
        </p:txBody>
      </p:sp>
      <p:sp>
        <p:nvSpPr>
          <p:cNvPr id="4" name="Setup badge 1"/>
          <p:cNvSpPr/>
          <p:nvPr/>
        </p:nvSpPr>
        <p:spPr>
          <a:xfrm>
            <a:off x="548640" y="1435608"/>
            <a:ext cx="411480" cy="4114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Setup text 1"/>
          <p:cNvSpPr txBox="1"/>
          <p:nvPr/>
        </p:nvSpPr>
        <p:spPr>
          <a:xfrm>
            <a:off x="1143000" y="1325880"/>
            <a:ext cx="3291840" cy="868680"/>
          </a:xfrm>
          <a:prstGeom prst="rect">
            <a:avLst/>
          </a:prstGeom>
          <a:noFill/>
          <a:ln/>
        </p:spPr>
        <p:txBody>
          <a:bodyPr wrap="square" lIns="0" tIns="0" rIns="0" bIns="0" rtlCol="0" anchor="ctr"/>
          <a:lstStyle/>
          <a:p>
            <a:pPr marL="0" indent="0">
              <a:buNone/>
            </a:pPr>
            <a:r>
              <a:rPr lang="en-US" sz="1600" b="1" dirty="0">
                <a:solidFill>
                  <a:schemeClr val="tx1"/>
                </a:solidFill>
              </a:rPr>
              <a:t>Install prerequisites</a:t>
            </a:r>
            <a:endParaRPr lang="en-US" sz="1600" dirty="0"/>
          </a:p>
          <a:p>
            <a:pPr marL="0" indent="0">
              <a:buNone/>
            </a:pPr>
            <a:r>
              <a:rPr lang="en-US" sz="1400" dirty="0">
                <a:solidFill>
                  <a:schemeClr val="tx2"/>
                </a:solidFill>
              </a:rPr>
              <a:t>Python 3.10+ and Node.js 18+</a:t>
            </a:r>
            <a:endParaRPr lang="en-US" sz="1600" dirty="0"/>
          </a:p>
        </p:txBody>
      </p:sp>
      <p:sp>
        <p:nvSpPr>
          <p:cNvPr id="6" name="Setup badge 2"/>
          <p:cNvSpPr/>
          <p:nvPr/>
        </p:nvSpPr>
        <p:spPr>
          <a:xfrm>
            <a:off x="4663440" y="1435608"/>
            <a:ext cx="411480" cy="4114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7" name="Setup text 2"/>
          <p:cNvSpPr txBox="1"/>
          <p:nvPr/>
        </p:nvSpPr>
        <p:spPr>
          <a:xfrm>
            <a:off x="5257800" y="1325880"/>
            <a:ext cx="3291840" cy="868680"/>
          </a:xfrm>
          <a:prstGeom prst="rect">
            <a:avLst/>
          </a:prstGeom>
          <a:noFill/>
          <a:ln/>
        </p:spPr>
        <p:txBody>
          <a:bodyPr wrap="square" lIns="0" tIns="0" rIns="0" bIns="0" rtlCol="0" anchor="ctr"/>
          <a:lstStyle/>
          <a:p>
            <a:pPr marL="0" indent="0">
              <a:buNone/>
            </a:pPr>
            <a:r>
              <a:rPr lang="en-US" sz="1600" b="1" dirty="0">
                <a:solidFill>
                  <a:schemeClr val="tx1"/>
                </a:solidFill>
              </a:rPr>
              <a:t>Set up the backend</a:t>
            </a:r>
            <a:endParaRPr lang="en-US" sz="1600" dirty="0"/>
          </a:p>
          <a:p>
            <a:pPr marL="0" indent="0">
              <a:buNone/>
            </a:pPr>
            <a:r>
              <a:rPr lang="en-US" sz="1400" dirty="0">
                <a:solidFill>
                  <a:schemeClr val="tx2"/>
                </a:solidFill>
              </a:rPr>
              <a:t>Create a virtual environment, then pip install -r requirements.txt</a:t>
            </a:r>
            <a:endParaRPr lang="en-US" sz="1600" dirty="0"/>
          </a:p>
        </p:txBody>
      </p:sp>
      <p:sp>
        <p:nvSpPr>
          <p:cNvPr id="8" name="Setup badge 3"/>
          <p:cNvSpPr/>
          <p:nvPr/>
        </p:nvSpPr>
        <p:spPr>
          <a:xfrm>
            <a:off x="548640" y="2487168"/>
            <a:ext cx="411480" cy="4114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9" name="Setup text 3"/>
          <p:cNvSpPr txBox="1"/>
          <p:nvPr/>
        </p:nvSpPr>
        <p:spPr>
          <a:xfrm>
            <a:off x="1143000" y="2377440"/>
            <a:ext cx="3291840" cy="868680"/>
          </a:xfrm>
          <a:prstGeom prst="rect">
            <a:avLst/>
          </a:prstGeom>
          <a:noFill/>
          <a:ln/>
        </p:spPr>
        <p:txBody>
          <a:bodyPr wrap="square" lIns="0" tIns="0" rIns="0" bIns="0" rtlCol="0" anchor="ctr"/>
          <a:lstStyle/>
          <a:p>
            <a:pPr marL="0" indent="0">
              <a:buNone/>
            </a:pPr>
            <a:r>
              <a:rPr lang="en-US" sz="1600" b="1" dirty="0">
                <a:solidFill>
                  <a:schemeClr val="tx1"/>
                </a:solidFill>
              </a:rPr>
              <a:t>Add the Groq key</a:t>
            </a:r>
            <a:endParaRPr lang="en-US" sz="1600" dirty="0"/>
          </a:p>
          <a:p>
            <a:pPr marL="0" indent="0">
              <a:buNone/>
            </a:pPr>
            <a:r>
              <a:rPr lang="en-US" sz="1400" dirty="0">
                <a:solidFill>
                  <a:schemeClr val="tx2"/>
                </a:solidFill>
              </a:rPr>
              <a:t>Copy .env.example to .env; keep the key on the backend only</a:t>
            </a:r>
            <a:endParaRPr lang="en-US" sz="1600" dirty="0"/>
          </a:p>
        </p:txBody>
      </p:sp>
      <p:sp>
        <p:nvSpPr>
          <p:cNvPr id="10" name="Setup badge 4"/>
          <p:cNvSpPr/>
          <p:nvPr/>
        </p:nvSpPr>
        <p:spPr>
          <a:xfrm>
            <a:off x="4663440" y="2487168"/>
            <a:ext cx="411480" cy="4114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1" name="Setup text 4"/>
          <p:cNvSpPr txBox="1"/>
          <p:nvPr/>
        </p:nvSpPr>
        <p:spPr>
          <a:xfrm>
            <a:off x="5257800" y="2377440"/>
            <a:ext cx="3291840" cy="868680"/>
          </a:xfrm>
          <a:prstGeom prst="rect">
            <a:avLst/>
          </a:prstGeom>
          <a:noFill/>
          <a:ln/>
        </p:spPr>
        <p:txBody>
          <a:bodyPr wrap="square" lIns="0" tIns="0" rIns="0" bIns="0" rtlCol="0" anchor="ctr"/>
          <a:lstStyle/>
          <a:p>
            <a:pPr marL="0" indent="0">
              <a:buNone/>
            </a:pPr>
            <a:r>
              <a:rPr lang="en-US" sz="1600" b="1" dirty="0">
                <a:solidFill>
                  <a:schemeClr val="tx1"/>
                </a:solidFill>
              </a:rPr>
              <a:t>Start the API</a:t>
            </a:r>
            <a:endParaRPr lang="en-US" sz="1600" dirty="0"/>
          </a:p>
          <a:p>
            <a:pPr marL="0" indent="0">
              <a:buNone/>
            </a:pPr>
            <a:r>
              <a:rPr lang="en-US" sz="1400" dirty="0">
                <a:solidFill>
                  <a:schemeClr val="tx2"/>
                </a:solidFill>
              </a:rPr>
              <a:t>python -m uvicorn main:app --reload --port 8000</a:t>
            </a:r>
            <a:endParaRPr lang="en-US" sz="1600" dirty="0"/>
          </a:p>
        </p:txBody>
      </p:sp>
      <p:sp>
        <p:nvSpPr>
          <p:cNvPr id="12" name="Setup badge 5"/>
          <p:cNvSpPr/>
          <p:nvPr/>
        </p:nvSpPr>
        <p:spPr>
          <a:xfrm>
            <a:off x="548640" y="3538728"/>
            <a:ext cx="411480" cy="4114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13" name="Setup text 5"/>
          <p:cNvSpPr txBox="1"/>
          <p:nvPr/>
        </p:nvSpPr>
        <p:spPr>
          <a:xfrm>
            <a:off x="1143000" y="3429000"/>
            <a:ext cx="3291840" cy="868680"/>
          </a:xfrm>
          <a:prstGeom prst="rect">
            <a:avLst/>
          </a:prstGeom>
          <a:noFill/>
          <a:ln/>
        </p:spPr>
        <p:txBody>
          <a:bodyPr wrap="square" lIns="0" tIns="0" rIns="0" bIns="0" rtlCol="0" anchor="ctr"/>
          <a:lstStyle/>
          <a:p>
            <a:pPr marL="0" indent="0">
              <a:buNone/>
            </a:pPr>
            <a:r>
              <a:rPr lang="en-US" sz="1600" b="1" dirty="0">
                <a:solidFill>
                  <a:schemeClr val="tx1"/>
                </a:solidFill>
              </a:rPr>
              <a:t>Start the UI</a:t>
            </a:r>
            <a:endParaRPr lang="en-US" sz="1600" dirty="0"/>
          </a:p>
          <a:p>
            <a:pPr marL="0" indent="0">
              <a:buNone/>
            </a:pPr>
            <a:r>
              <a:rPr lang="en-US" sz="1400" dirty="0">
                <a:solidFill>
                  <a:schemeClr val="tx2"/>
                </a:solidFill>
              </a:rPr>
              <a:t>In frontend/: npm install, npm run dev, open localhost:5173</a:t>
            </a:r>
            <a:endParaRPr lang="en-US" sz="1600" dirty="0"/>
          </a:p>
        </p:txBody>
      </p:sp>
      <p:sp>
        <p:nvSpPr>
          <p:cNvPr id="14" name="Setup badge 6"/>
          <p:cNvSpPr/>
          <p:nvPr/>
        </p:nvSpPr>
        <p:spPr>
          <a:xfrm>
            <a:off x="4663440" y="3538728"/>
            <a:ext cx="411480" cy="4114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15" name="Setup text 6"/>
          <p:cNvSpPr txBox="1"/>
          <p:nvPr/>
        </p:nvSpPr>
        <p:spPr>
          <a:xfrm>
            <a:off x="5257800" y="3429000"/>
            <a:ext cx="3291840" cy="868680"/>
          </a:xfrm>
          <a:prstGeom prst="rect">
            <a:avLst/>
          </a:prstGeom>
          <a:noFill/>
          <a:ln/>
        </p:spPr>
        <p:txBody>
          <a:bodyPr wrap="square" lIns="0" tIns="0" rIns="0" bIns="0" rtlCol="0" anchor="ctr"/>
          <a:lstStyle/>
          <a:p>
            <a:pPr marL="0" indent="0">
              <a:buNone/>
            </a:pPr>
            <a:r>
              <a:rPr lang="en-US" sz="1600" b="1" dirty="0">
                <a:solidFill>
                  <a:schemeClr val="tx1"/>
                </a:solidFill>
              </a:rPr>
              <a:t>Windows live capture</a:t>
            </a:r>
            <a:endParaRPr lang="en-US" sz="1600" dirty="0"/>
          </a:p>
          <a:p>
            <a:pPr marL="0" indent="0">
              <a:buNone/>
            </a:pPr>
            <a:r>
              <a:rPr lang="en-US" sz="1400" dirty="0">
                <a:solidFill>
                  <a:schemeClr val="tx2"/>
                </a:solidFill>
              </a:rPr>
              <a:t>Install Npcap and run the backend terminal as Administrator</a:t>
            </a:r>
            <a:endParaRPr lang="en-US" sz="1600" dirty="0"/>
          </a:p>
        </p:txBody>
      </p:sp>
      <p:sp>
        <p:nvSpPr>
          <p:cNvPr id="25"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What it reports</a:t>
            </a:r>
            <a:endParaRPr lang="en-US" sz="3400" dirty="0"/>
          </a:p>
        </p:txBody>
      </p:sp>
      <p:sp>
        <p:nvSpPr>
          <p:cNvPr id="4" name="Stat 1"/>
          <p:cNvSpPr txBox="1"/>
          <p:nvPr/>
        </p:nvSpPr>
        <p:spPr>
          <a:xfrm>
            <a:off x="548640" y="1325880"/>
            <a:ext cx="1828800" cy="777240"/>
          </a:xfrm>
          <a:prstGeom prst="rect">
            <a:avLst/>
          </a:prstGeom>
          <a:noFill/>
          <a:ln/>
        </p:spPr>
        <p:txBody>
          <a:bodyPr wrap="square" lIns="0" tIns="0" rIns="0" bIns="0" rtlCol="0" anchor="ctr"/>
          <a:lstStyle/>
          <a:p>
            <a:pPr marL="0" indent="0">
              <a:buNone/>
            </a:pPr>
            <a:r>
              <a:rPr lang="en-US" sz="3800" b="1" dirty="0">
                <a:solidFill>
                  <a:schemeClr val="accent1"/>
                </a:solidFill>
              </a:rPr>
              <a:t>200 MB</a:t>
            </a:r>
            <a:endParaRPr lang="en-US" sz="3800" dirty="0"/>
          </a:p>
        </p:txBody>
      </p:sp>
      <p:sp>
        <p:nvSpPr>
          <p:cNvPr id="5" name="Stat label 1"/>
          <p:cNvSpPr txBox="1"/>
          <p:nvPr/>
        </p:nvSpPr>
        <p:spPr>
          <a:xfrm>
            <a:off x="548640" y="2148840"/>
            <a:ext cx="1828800" cy="914400"/>
          </a:xfrm>
          <a:prstGeom prst="rect">
            <a:avLst/>
          </a:prstGeom>
          <a:noFill/>
          <a:ln/>
        </p:spPr>
        <p:txBody>
          <a:bodyPr wrap="square" lIns="0" tIns="0" rIns="0" bIns="0" rtlCol="0" anchor="t"/>
          <a:lstStyle/>
          <a:p>
            <a:pPr marL="0" indent="0">
              <a:buNone/>
            </a:pPr>
            <a:r>
              <a:rPr lang="en-US" sz="1400" dirty="0">
                <a:solidFill>
                  <a:schemeClr val="tx1"/>
                </a:solidFill>
              </a:rPr>
              <a:t>Maximum size of an uploaded capture</a:t>
            </a:r>
            <a:endParaRPr lang="en-US" sz="1400" dirty="0"/>
          </a:p>
        </p:txBody>
      </p:sp>
      <p:sp>
        <p:nvSpPr>
          <p:cNvPr id="6" name="Stat 2"/>
          <p:cNvSpPr txBox="1"/>
          <p:nvPr/>
        </p:nvSpPr>
        <p:spPr>
          <a:xfrm>
            <a:off x="2624328" y="1325880"/>
            <a:ext cx="1828800" cy="777240"/>
          </a:xfrm>
          <a:prstGeom prst="rect">
            <a:avLst/>
          </a:prstGeom>
          <a:noFill/>
          <a:ln/>
        </p:spPr>
        <p:txBody>
          <a:bodyPr wrap="square" lIns="0" tIns="0" rIns="0" bIns="0" rtlCol="0" anchor="ctr"/>
          <a:lstStyle/>
          <a:p>
            <a:pPr marL="0" indent="0">
              <a:buNone/>
            </a:pPr>
            <a:r>
              <a:rPr lang="en-US" sz="3800" b="1" dirty="0">
                <a:solidFill>
                  <a:schemeClr val="accent1"/>
                </a:solidFill>
              </a:rPr>
              <a:t>300k</a:t>
            </a:r>
            <a:endParaRPr lang="en-US" sz="3800" dirty="0"/>
          </a:p>
        </p:txBody>
      </p:sp>
      <p:sp>
        <p:nvSpPr>
          <p:cNvPr id="7" name="Stat label 2"/>
          <p:cNvSpPr txBox="1"/>
          <p:nvPr/>
        </p:nvSpPr>
        <p:spPr>
          <a:xfrm>
            <a:off x="2624328" y="2148840"/>
            <a:ext cx="1828800" cy="914400"/>
          </a:xfrm>
          <a:prstGeom prst="rect">
            <a:avLst/>
          </a:prstGeom>
          <a:noFill/>
          <a:ln/>
        </p:spPr>
        <p:txBody>
          <a:bodyPr wrap="square" lIns="0" tIns="0" rIns="0" bIns="0" rtlCol="0" anchor="t"/>
          <a:lstStyle/>
          <a:p>
            <a:pPr marL="0" indent="0">
              <a:buNone/>
            </a:pPr>
            <a:r>
              <a:rPr lang="en-US" sz="1400" dirty="0">
                <a:solidFill>
                  <a:schemeClr val="tx1"/>
                </a:solidFill>
              </a:rPr>
              <a:t>Packet rows kept for detailed charts and filtering</a:t>
            </a:r>
            <a:endParaRPr lang="en-US" sz="1400" dirty="0"/>
          </a:p>
        </p:txBody>
      </p:sp>
      <p:sp>
        <p:nvSpPr>
          <p:cNvPr id="8" name="Stat 3"/>
          <p:cNvSpPr txBox="1"/>
          <p:nvPr/>
        </p:nvSpPr>
        <p:spPr>
          <a:xfrm>
            <a:off x="4700016" y="1325880"/>
            <a:ext cx="1828800" cy="777240"/>
          </a:xfrm>
          <a:prstGeom prst="rect">
            <a:avLst/>
          </a:prstGeom>
          <a:noFill/>
          <a:ln/>
        </p:spPr>
        <p:txBody>
          <a:bodyPr wrap="square" lIns="0" tIns="0" rIns="0" bIns="0" rtlCol="0" anchor="ctr"/>
          <a:lstStyle/>
          <a:p>
            <a:pPr marL="0" indent="0">
              <a:buNone/>
            </a:pPr>
            <a:r>
              <a:rPr lang="en-US" sz="3800" b="1" dirty="0">
                <a:solidFill>
                  <a:schemeClr val="accent1"/>
                </a:solidFill>
              </a:rPr>
              <a:t>20+</a:t>
            </a:r>
            <a:endParaRPr lang="en-US" sz="3800" dirty="0"/>
          </a:p>
        </p:txBody>
      </p:sp>
      <p:sp>
        <p:nvSpPr>
          <p:cNvPr id="9" name="Stat label 3"/>
          <p:cNvSpPr txBox="1"/>
          <p:nvPr/>
        </p:nvSpPr>
        <p:spPr>
          <a:xfrm>
            <a:off x="4700016" y="2148840"/>
            <a:ext cx="1828800" cy="914400"/>
          </a:xfrm>
          <a:prstGeom prst="rect">
            <a:avLst/>
          </a:prstGeom>
          <a:noFill/>
          <a:ln/>
        </p:spPr>
        <p:txBody>
          <a:bodyPr wrap="square" lIns="0" tIns="0" rIns="0" bIns="0" rtlCol="0" anchor="t"/>
          <a:lstStyle/>
          <a:p>
            <a:pPr marL="0" indent="0">
              <a:buNone/>
            </a:pPr>
            <a:r>
              <a:rPr lang="en-US" sz="1400" dirty="0">
                <a:solidFill>
                  <a:schemeClr val="tx1"/>
                </a:solidFill>
              </a:rPr>
              <a:t>Distinct ports hit by SYN traffic raises a flag</a:t>
            </a:r>
            <a:endParaRPr lang="en-US" sz="1400" dirty="0"/>
          </a:p>
        </p:txBody>
      </p:sp>
      <p:sp>
        <p:nvSpPr>
          <p:cNvPr id="10" name="Stat 4"/>
          <p:cNvSpPr txBox="1"/>
          <p:nvPr/>
        </p:nvSpPr>
        <p:spPr>
          <a:xfrm>
            <a:off x="6775704" y="1325880"/>
            <a:ext cx="1828800" cy="777240"/>
          </a:xfrm>
          <a:prstGeom prst="rect">
            <a:avLst/>
          </a:prstGeom>
          <a:noFill/>
          <a:ln/>
        </p:spPr>
        <p:txBody>
          <a:bodyPr wrap="square" lIns="0" tIns="0" rIns="0" bIns="0" rtlCol="0" anchor="ctr"/>
          <a:lstStyle/>
          <a:p>
            <a:pPr marL="0" indent="0">
              <a:buNone/>
            </a:pPr>
            <a:r>
              <a:rPr lang="en-US" sz="3800" b="1" dirty="0">
                <a:solidFill>
                  <a:schemeClr val="accent1"/>
                </a:solidFill>
              </a:rPr>
              <a:t>50+</a:t>
            </a:r>
            <a:endParaRPr lang="en-US" sz="3800" dirty="0"/>
          </a:p>
        </p:txBody>
      </p:sp>
      <p:sp>
        <p:nvSpPr>
          <p:cNvPr id="11" name="Stat label 4"/>
          <p:cNvSpPr txBox="1"/>
          <p:nvPr/>
        </p:nvSpPr>
        <p:spPr>
          <a:xfrm>
            <a:off x="6775704" y="2148840"/>
            <a:ext cx="1828800" cy="914400"/>
          </a:xfrm>
          <a:prstGeom prst="rect">
            <a:avLst/>
          </a:prstGeom>
          <a:noFill/>
          <a:ln/>
        </p:spPr>
        <p:txBody>
          <a:bodyPr wrap="square" lIns="0" tIns="0" rIns="0" bIns="0" rtlCol="0" anchor="t"/>
          <a:lstStyle/>
          <a:p>
            <a:pPr marL="0" indent="0">
              <a:buNone/>
            </a:pPr>
            <a:r>
              <a:rPr lang="en-US" sz="1400" dirty="0">
                <a:solidFill>
                  <a:schemeClr val="tx1"/>
                </a:solidFill>
              </a:rPr>
              <a:t>Characters in a DNS query name raises a flag</a:t>
            </a:r>
            <a:endParaRPr lang="en-US" sz="1400" dirty="0"/>
          </a:p>
        </p:txBody>
      </p:sp>
      <p:sp>
        <p:nvSpPr>
          <p:cNvPr id="12" name="Outputs panel"/>
          <p:cNvSpPr/>
          <p:nvPr/>
        </p:nvSpPr>
        <p:spPr>
          <a:xfrm>
            <a:off x="548640" y="3291840"/>
            <a:ext cx="8046720" cy="1234440"/>
          </a:xfrm>
          <a:prstGeom prst="roundRect">
            <a:avLst>
              <a:gd name="adj" fmla="val 5926"/>
            </a:avLst>
          </a:prstGeom>
          <a:solidFill>
            <a:schemeClr val="bg2"/>
          </a:solidFill>
          <a:ln w="12700">
            <a:solidFill>
              <a:schemeClr val="bg2"/>
            </a:solidFill>
            <a:prstDash val="solid"/>
          </a:ln>
        </p:spPr>
      </p:sp>
      <p:sp>
        <p:nvSpPr>
          <p:cNvPr id="13" name="Outputs label"/>
          <p:cNvSpPr txBox="1"/>
          <p:nvPr/>
        </p:nvSpPr>
        <p:spPr>
          <a:xfrm>
            <a:off x="777240" y="3429000"/>
            <a:ext cx="36576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DASHBOARD OUTPUTS</a:t>
            </a:r>
            <a:endParaRPr lang="en-US" sz="1100" dirty="0"/>
          </a:p>
        </p:txBody>
      </p:sp>
      <p:sp>
        <p:nvSpPr>
          <p:cNvPr id="14" name="Outputs list"/>
          <p:cNvSpPr txBox="1"/>
          <p:nvPr/>
        </p:nvSpPr>
        <p:spPr>
          <a:xfrm>
            <a:off x="777240" y="3703320"/>
            <a:ext cx="7589520" cy="411480"/>
          </a:xfrm>
          <a:prstGeom prst="rect">
            <a:avLst/>
          </a:prstGeom>
          <a:noFill/>
          <a:ln/>
        </p:spPr>
        <p:txBody>
          <a:bodyPr wrap="square" lIns="0" tIns="0" rIns="0" bIns="0" rtlCol="0" anchor="t"/>
          <a:lstStyle/>
          <a:p>
            <a:pPr marL="0" indent="0">
              <a:buNone/>
            </a:pPr>
            <a:r>
              <a:rPr lang="en-US" sz="1400" dirty="0">
                <a:solidFill>
                  <a:schemeClr val="tx1"/>
                </a:solidFill>
              </a:rPr>
              <a:t>Packet and byte totals  ·  Protocol distribution  ·  Traffic over time  ·  Visible hosts and DNS names</a:t>
            </a:r>
            <a:endParaRPr lang="en-US" sz="1400" dirty="0"/>
          </a:p>
        </p:txBody>
      </p:sp>
      <p:sp>
        <p:nvSpPr>
          <p:cNvPr id="15" name="Flags note"/>
          <p:cNvSpPr txBox="1"/>
          <p:nvPr/>
        </p:nvSpPr>
        <p:spPr>
          <a:xfrm>
            <a:off x="777240" y="4114800"/>
            <a:ext cx="7589520" cy="274320"/>
          </a:xfrm>
          <a:prstGeom prst="rect">
            <a:avLst/>
          </a:prstGeom>
          <a:noFill/>
          <a:ln/>
        </p:spPr>
        <p:txBody>
          <a:bodyPr wrap="square" lIns="0" tIns="0" rIns="0" bIns="0" rtlCol="0" anchor="ctr"/>
          <a:lstStyle/>
          <a:p>
            <a:pPr marL="0" indent="0">
              <a:buNone/>
            </a:pPr>
            <a:r>
              <a:rPr lang="en-US" sz="1400" i="1" dirty="0">
                <a:solidFill>
                  <a:schemeClr val="accent1"/>
                </a:solidFill>
              </a:rPr>
              <a:t>Flags are indicators for a person to review, not proof of an attack.</a:t>
            </a:r>
            <a:endParaRPr lang="en-US" sz="1400" dirty="0"/>
          </a:p>
        </p:txBody>
      </p:sp>
      <p:sp>
        <p:nvSpPr>
          <p:cNvPr id="25"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Testing and results</a:t>
            </a:r>
            <a:endParaRPr lang="en-US" sz="3400" dirty="0"/>
          </a:p>
        </p:txBody>
      </p:sp>
      <p:graphicFrame>
        <p:nvGraphicFramePr>
          <p:cNvPr id="11" name="Test plan table"/>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2286000"/>
        </p:xfrm>
        <a:graphic>
          <a:graphicData uri="http://schemas.openxmlformats.org/drawingml/2006/table">
            <a:tbl>
              <a:tblPr/>
              <a:tblGrid>
                <a:gridCol w="548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65760">
                <a:tc>
                  <a:txBody>
                    <a:bodyPr/>
                    <a:lstStyle/>
                    <a:p>
                      <a:pPr marL="0" indent="0">
                        <a:buNone/>
                      </a:pPr>
                      <a:r>
                        <a:rPr lang="en-US" sz="1400" b="1" dirty="0">
                          <a:solidFill>
                            <a:srgbClr val="0E7490"/>
                          </a:solidFill>
                        </a:rPr>
                        <a:t>ID</a:t>
                      </a:r>
                      <a:endParaRPr lang="en-US" sz="1400" dirty="0"/>
                    </a:p>
                  </a:txBody>
                  <a:tcPr marL="73152" marR="73152">
                    <a:lnL w="0" cap="flat" cmpd="sng" algn="ctr">
                      <a:noFill/>
                    </a:lnL>
                    <a:lnR w="0" cap="flat" cmpd="sng" algn="ctr">
                      <a:noFill/>
                    </a:lnR>
                    <a:lnT w="0" cap="flat" cmpd="sng" algn="ctr">
                      <a:noFill/>
                    </a:lnT>
                    <a:lnB w="9525"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400" b="1" dirty="0">
                          <a:solidFill>
                            <a:srgbClr val="0E7490"/>
                          </a:solidFill>
                        </a:rPr>
                        <a:t>Test</a:t>
                      </a:r>
                      <a:endParaRPr lang="en-US" sz="1400" dirty="0"/>
                    </a:p>
                  </a:txBody>
                  <a:tcPr marL="73152" marR="73152">
                    <a:lnL w="0" cap="flat" cmpd="sng" algn="ctr">
                      <a:noFill/>
                    </a:lnL>
                    <a:lnR w="0" cap="flat" cmpd="sng" algn="ctr">
                      <a:noFill/>
                    </a:lnR>
                    <a:lnT w="0" cap="flat" cmpd="sng" algn="ctr">
                      <a:noFill/>
                    </a:lnT>
                    <a:lnB w="9525"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400" b="1" dirty="0">
                          <a:solidFill>
                            <a:srgbClr val="0E7490"/>
                          </a:solidFill>
                        </a:rPr>
                        <a:t>Expected</a:t>
                      </a:r>
                      <a:endParaRPr lang="en-US" sz="1400" dirty="0"/>
                    </a:p>
                  </a:txBody>
                  <a:tcPr marL="73152" marR="73152">
                    <a:lnL w="0" cap="flat" cmpd="sng" algn="ctr">
                      <a:noFill/>
                    </a:lnL>
                    <a:lnR w="0" cap="flat" cmpd="sng" algn="ctr">
                      <a:noFill/>
                    </a:lnR>
                    <a:lnT w="0" cap="flat" cmpd="sng" algn="ctr">
                      <a:noFill/>
                    </a:lnT>
                    <a:lnB w="9525"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400" b="1" dirty="0">
                          <a:solidFill>
                            <a:srgbClr val="0E7490"/>
                          </a:solidFill>
                        </a:rPr>
                        <a:t>Status</a:t>
                      </a:r>
                      <a:endParaRPr lang="en-US" sz="1400" dirty="0"/>
                    </a:p>
                  </a:txBody>
                  <a:tcPr marL="73152" marR="73152">
                    <a:lnL w="0" cap="flat" cmpd="sng" algn="ctr">
                      <a:noFill/>
                    </a:lnL>
                    <a:lnR w="0" cap="flat" cmpd="sng" algn="ctr">
                      <a:noFill/>
                    </a:lnR>
                    <a:lnT w="0" cap="flat" cmpd="sng" algn="ctr">
                      <a:noFill/>
                    </a:lnT>
                    <a:lnB w="9525"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40080">
                <a:tc>
                  <a:txBody>
                    <a:bodyPr/>
                    <a:lstStyle/>
                    <a:p>
                      <a:pPr marL="0" indent="0">
                        <a:buNone/>
                      </a:pPr>
                      <a:r>
                        <a:rPr lang="en-US" sz="1400" b="1" dirty="0">
                          <a:solidFill>
                            <a:srgbClr val="1F2933"/>
                          </a:solidFill>
                        </a:rPr>
                        <a:t>T1</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Upload a valid .pcap or .pcapng</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Totals and charts returned</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Pending live run</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1F2933"/>
                          </a:solidFill>
                        </a:rPr>
                        <a:t>T2</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Upload a wrong extension or bad header</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Rejected with a clear error</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Code-checked; live run pending</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400" b="1" dirty="0">
                          <a:solidFill>
                            <a:srgbClr val="1F2933"/>
                          </a:solidFill>
                        </a:rPr>
                        <a:t>T3</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Run an allowed browser task with Groq</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Plan, step and packet events appear</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Pending live run</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Results note"/>
          <p:cNvSpPr txBox="1"/>
          <p:nvPr/>
        </p:nvSpPr>
        <p:spPr>
          <a:xfrm>
            <a:off x="548640" y="4114800"/>
            <a:ext cx="8046720" cy="365760"/>
          </a:xfrm>
          <a:prstGeom prst="rect">
            <a:avLst/>
          </a:prstGeom>
          <a:noFill/>
          <a:ln/>
        </p:spPr>
        <p:txBody>
          <a:bodyPr wrap="square" lIns="0" tIns="0" rIns="0" bIns="0" rtlCol="0" anchor="ctr"/>
          <a:lstStyle/>
          <a:p>
            <a:pPr marL="0" indent="0">
              <a:buNone/>
            </a:pPr>
            <a:r>
              <a:rPr lang="en-US" sz="1400" i="1" dirty="0">
                <a:solidFill>
                  <a:schemeClr val="accent1"/>
                </a:solidFill>
              </a:rPr>
              <a:t>Results are recorded during the live run. No figure is reported until it has been observed.</a:t>
            </a:r>
            <a:endParaRPr lang="en-US" sz="1400" dirty="0"/>
          </a:p>
        </p:txBody>
      </p:sp>
      <p:sp>
        <p:nvSpPr>
          <p:cNvPr id="25"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Live demonstration</a:t>
            </a:r>
            <a:endParaRPr lang="en-US" sz="3400" dirty="0"/>
          </a:p>
        </p:txBody>
      </p:sp>
      <p:sp>
        <p:nvSpPr>
          <p:cNvPr id="4" name="Step badge 1"/>
          <p:cNvSpPr/>
          <p:nvPr/>
        </p:nvSpPr>
        <p:spPr>
          <a:xfrm>
            <a:off x="548640" y="146304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Step text 1"/>
          <p:cNvSpPr txBox="1"/>
          <p:nvPr/>
        </p:nvSpPr>
        <p:spPr>
          <a:xfrm>
            <a:off x="1188720" y="1371600"/>
            <a:ext cx="3383280" cy="731520"/>
          </a:xfrm>
          <a:prstGeom prst="rect">
            <a:avLst/>
          </a:prstGeom>
          <a:noFill/>
          <a:ln/>
        </p:spPr>
        <p:txBody>
          <a:bodyPr wrap="square" lIns="0" tIns="0" rIns="0" bIns="0" rtlCol="0" anchor="ctr"/>
          <a:lstStyle/>
          <a:p>
            <a:pPr marL="0" indent="0">
              <a:buNone/>
            </a:pPr>
            <a:r>
              <a:rPr lang="en-US" sz="1600" b="1" dirty="0">
                <a:solidFill>
                  <a:schemeClr val="tx1"/>
                </a:solidFill>
              </a:rPr>
              <a:t>Start both servers</a:t>
            </a:r>
            <a:endParaRPr lang="en-US" sz="1600" dirty="0"/>
          </a:p>
          <a:p>
            <a:pPr marL="0" indent="0">
              <a:buNone/>
            </a:pPr>
            <a:r>
              <a:rPr lang="en-US" sz="1400" dirty="0">
                <a:solidFill>
                  <a:schemeClr val="tx2"/>
                </a:solidFill>
              </a:rPr>
              <a:t>uvicorn on port 8000, npm run dev on 5173</a:t>
            </a:r>
            <a:endParaRPr lang="en-US" sz="1600" dirty="0"/>
          </a:p>
        </p:txBody>
      </p:sp>
      <p:sp>
        <p:nvSpPr>
          <p:cNvPr id="6" name="Step badge 2"/>
          <p:cNvSpPr/>
          <p:nvPr/>
        </p:nvSpPr>
        <p:spPr>
          <a:xfrm>
            <a:off x="548640" y="246888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7" name="Step text 2"/>
          <p:cNvSpPr txBox="1"/>
          <p:nvPr/>
        </p:nvSpPr>
        <p:spPr>
          <a:xfrm>
            <a:off x="1188720" y="2377440"/>
            <a:ext cx="3383280" cy="731520"/>
          </a:xfrm>
          <a:prstGeom prst="rect">
            <a:avLst/>
          </a:prstGeom>
          <a:noFill/>
          <a:ln/>
        </p:spPr>
        <p:txBody>
          <a:bodyPr wrap="square" lIns="0" tIns="0" rIns="0" bIns="0" rtlCol="0" anchor="ctr"/>
          <a:lstStyle/>
          <a:p>
            <a:pPr marL="0" indent="0">
              <a:buNone/>
            </a:pPr>
            <a:r>
              <a:rPr lang="en-US" sz="1600" b="1" dirty="0">
                <a:solidFill>
                  <a:schemeClr val="tx1"/>
                </a:solidFill>
              </a:rPr>
              <a:t>Upload a real capture</a:t>
            </a:r>
            <a:endParaRPr lang="en-US" sz="1600" dirty="0"/>
          </a:p>
          <a:p>
            <a:pPr marL="0" indent="0">
              <a:buNone/>
            </a:pPr>
            <a:r>
              <a:rPr lang="en-US" sz="1400" dirty="0">
                <a:solidFill>
                  <a:schemeClr val="tx2"/>
                </a:solidFill>
              </a:rPr>
              <a:t>Open the PCAP page and choose a .pcap or .pcapng</a:t>
            </a:r>
            <a:endParaRPr lang="en-US" sz="1600" dirty="0"/>
          </a:p>
        </p:txBody>
      </p:sp>
      <p:sp>
        <p:nvSpPr>
          <p:cNvPr id="8" name="Step badge 3"/>
          <p:cNvSpPr/>
          <p:nvPr/>
        </p:nvSpPr>
        <p:spPr>
          <a:xfrm>
            <a:off x="548640" y="347472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9" name="Step text 3"/>
          <p:cNvSpPr txBox="1"/>
          <p:nvPr/>
        </p:nvSpPr>
        <p:spPr>
          <a:xfrm>
            <a:off x="1188720" y="3383280"/>
            <a:ext cx="3383280" cy="731520"/>
          </a:xfrm>
          <a:prstGeom prst="rect">
            <a:avLst/>
          </a:prstGeom>
          <a:noFill/>
          <a:ln/>
        </p:spPr>
        <p:txBody>
          <a:bodyPr wrap="square" lIns="0" tIns="0" rIns="0" bIns="0" rtlCol="0" anchor="ctr"/>
          <a:lstStyle/>
          <a:p>
            <a:pPr marL="0" indent="0">
              <a:buNone/>
            </a:pPr>
            <a:r>
              <a:rPr lang="en-US" sz="1600" b="1" dirty="0">
                <a:solidFill>
                  <a:schemeClr val="tx1"/>
                </a:solidFill>
              </a:rPr>
              <a:t>Walk through the output</a:t>
            </a:r>
            <a:endParaRPr lang="en-US" sz="1600" dirty="0"/>
          </a:p>
          <a:p>
            <a:pPr marL="0" indent="0">
              <a:buNone/>
            </a:pPr>
            <a:r>
              <a:rPr lang="en-US" sz="1400" dirty="0">
                <a:solidFill>
                  <a:schemeClr val="tx2"/>
                </a:solidFill>
              </a:rPr>
              <a:t>Totals, protocol chart, hosts, timeline and flags</a:t>
            </a:r>
            <a:endParaRPr lang="en-US" sz="1600" dirty="0"/>
          </a:p>
        </p:txBody>
      </p:sp>
      <p:sp>
        <p:nvSpPr>
          <p:cNvPr id="25"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11</a:t>
            </a:fld>
            <a:endParaRPr lang="en-US"/>
          </a:p>
        </p:txBody>
      </p:sp>
      <p:pic>
        <p:nvPicPr>
          <p:cNvPr id="12" name="Picture 11">
            <a:extLst>
              <a:ext uri="{FF2B5EF4-FFF2-40B4-BE49-F238E27FC236}">
                <a16:creationId xmlns:a16="http://schemas.microsoft.com/office/drawing/2014/main" id="{F004E9AC-1B35-BECE-E1F0-39D8B832F7DA}"/>
              </a:ext>
            </a:extLst>
          </p:cNvPr>
          <p:cNvPicPr>
            <a:picLocks noChangeAspect="1"/>
          </p:cNvPicPr>
          <p:nvPr/>
        </p:nvPicPr>
        <p:blipFill>
          <a:blip r:embed="rId3"/>
          <a:stretch>
            <a:fillRect/>
          </a:stretch>
        </p:blipFill>
        <p:spPr>
          <a:xfrm>
            <a:off x="4839286" y="1240170"/>
            <a:ext cx="4114800" cy="28746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Troubleshooting</a:t>
            </a:r>
            <a:endParaRPr lang="en-US" sz="3400" dirty="0"/>
          </a:p>
        </p:txBody>
      </p:sp>
      <p:graphicFrame>
        <p:nvGraphicFramePr>
          <p:cNvPr id="13" name="Troubleshooting table"/>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2423160"/>
        </p:xfrm>
        <a:graphic>
          <a:graphicData uri="http://schemas.openxmlformats.org/drawingml/2006/table">
            <a:tbl>
              <a:tblPr/>
              <a:tblGrid>
                <a:gridCol w="21945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65760">
                <a:tc>
                  <a:txBody>
                    <a:bodyPr/>
                    <a:lstStyle/>
                    <a:p>
                      <a:pPr marL="0" indent="0">
                        <a:buNone/>
                      </a:pPr>
                      <a:r>
                        <a:rPr lang="en-US" sz="1400" b="1" dirty="0">
                          <a:solidFill>
                            <a:srgbClr val="0E7490"/>
                          </a:solidFill>
                        </a:rPr>
                        <a:t>Issue</a:t>
                      </a:r>
                      <a:endParaRPr lang="en-US" sz="1400" dirty="0"/>
                    </a:p>
                  </a:txBody>
                  <a:tcPr marL="73152" marR="73152">
                    <a:lnL w="0" cap="flat" cmpd="sng" algn="ctr">
                      <a:noFill/>
                    </a:lnL>
                    <a:lnR w="0" cap="flat" cmpd="sng" algn="ctr">
                      <a:noFill/>
                    </a:lnR>
                    <a:lnT w="0" cap="flat" cmpd="sng" algn="ctr">
                      <a:noFill/>
                    </a:lnT>
                    <a:lnB w="9525"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400" b="1" dirty="0">
                          <a:solidFill>
                            <a:srgbClr val="0E7490"/>
                          </a:solidFill>
                        </a:rPr>
                        <a:t>Likely cause</a:t>
                      </a:r>
                      <a:endParaRPr lang="en-US" sz="1400" dirty="0"/>
                    </a:p>
                  </a:txBody>
                  <a:tcPr marL="73152" marR="73152">
                    <a:lnL w="0" cap="flat" cmpd="sng" algn="ctr">
                      <a:noFill/>
                    </a:lnL>
                    <a:lnR w="0" cap="flat" cmpd="sng" algn="ctr">
                      <a:noFill/>
                    </a:lnR>
                    <a:lnT w="0" cap="flat" cmpd="sng" algn="ctr">
                      <a:noFill/>
                    </a:lnT>
                    <a:lnB w="9525" cap="flat" cmpd="sng" algn="ctr">
                      <a:solidFill>
                        <a:srgbClr val="D9DEE3"/>
                      </a:solidFill>
                      <a:prstDash val="solid"/>
                      <a:round/>
                      <a:headEnd type="none" w="med" len="med"/>
                      <a:tailEnd type="none" w="med" len="med"/>
                    </a:lnB>
                    <a:solidFill>
                      <a:srgbClr val="FFFFFF"/>
                    </a:solidFill>
                  </a:tcPr>
                </a:tc>
                <a:tc>
                  <a:txBody>
                    <a:bodyPr/>
                    <a:lstStyle/>
                    <a:p>
                      <a:pPr marL="0" indent="0">
                        <a:buNone/>
                      </a:pPr>
                      <a:r>
                        <a:rPr lang="en-US" sz="1400" b="1" dirty="0">
                          <a:solidFill>
                            <a:srgbClr val="0E7490"/>
                          </a:solidFill>
                        </a:rPr>
                        <a:t>Fix</a:t>
                      </a:r>
                      <a:endParaRPr lang="en-US" sz="1400" dirty="0"/>
                    </a:p>
                  </a:txBody>
                  <a:tcPr marL="73152" marR="73152">
                    <a:lnL w="0" cap="flat" cmpd="sng" algn="ctr">
                      <a:noFill/>
                    </a:lnL>
                    <a:lnR w="0" cap="flat" cmpd="sng" algn="ctr">
                      <a:noFill/>
                    </a:lnR>
                    <a:lnT w="0" cap="flat" cmpd="sng" algn="ctr">
                      <a:noFill/>
                    </a:lnT>
                    <a:lnB w="9525"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marL="0" indent="0">
                        <a:buNone/>
                      </a:pPr>
                      <a:r>
                        <a:rPr lang="en-US" sz="1400" b="1" dirty="0">
                          <a:solidFill>
                            <a:srgbClr val="1F2933"/>
                          </a:solidFill>
                        </a:rPr>
                        <a:t>Backend unreachable</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API not running on port 8000</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Start Uvicorn on port 8000; check VITE_API_URL</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indent="0">
                        <a:buNone/>
                      </a:pPr>
                      <a:r>
                        <a:rPr lang="en-US" sz="1400" b="1" dirty="0">
                          <a:solidFill>
                            <a:srgbClr val="1F2933"/>
                          </a:solidFill>
                        </a:rPr>
                        <a:t>AI planning fails</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GROQ_API_KEY missing or API down</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Set the key in the backend .env; never commit it</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0" indent="0">
                        <a:buNone/>
                      </a:pPr>
                      <a:r>
                        <a:rPr lang="en-US" sz="1400" b="1" dirty="0">
                          <a:solidFill>
                            <a:srgbClr val="1F2933"/>
                          </a:solidFill>
                        </a:rPr>
                        <a:t>Live capture unavailable</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Npcap missing or no admin rights</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400" dirty="0">
                          <a:solidFill>
                            <a:srgbClr val="1F2933"/>
                          </a:solidFill>
                        </a:rPr>
                        <a:t>Install Npcap; run the backend as Administrator</a:t>
                      </a:r>
                      <a:endParaRPr lang="en-US" sz="1400" dirty="0"/>
                    </a:p>
                  </a:txBody>
                  <a:tcPr marL="73152" marR="73152" anchor="ctr">
                    <a:lnL w="0" cap="flat" cmpd="sng" algn="ctr">
                      <a:noFill/>
                    </a:lnL>
                    <a:lnR w="0" cap="flat" cmpd="sng" algn="ctr">
                      <a:noFill/>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roubleshooting note"/>
          <p:cNvSpPr txBox="1"/>
          <p:nvPr/>
        </p:nvSpPr>
        <p:spPr>
          <a:xfrm>
            <a:off x="548640" y="4114800"/>
            <a:ext cx="8046720" cy="365760"/>
          </a:xfrm>
          <a:prstGeom prst="rect">
            <a:avLst/>
          </a:prstGeom>
          <a:noFill/>
          <a:ln/>
        </p:spPr>
        <p:txBody>
          <a:bodyPr wrap="square" lIns="0" tIns="0" rIns="0" bIns="0" rtlCol="0" anchor="ctr"/>
          <a:lstStyle/>
          <a:p>
            <a:pPr marL="0" indent="0">
              <a:buNone/>
            </a:pPr>
            <a:r>
              <a:rPr lang="en-US" sz="1400" i="1" dirty="0">
                <a:solidFill>
                  <a:schemeClr val="accent1"/>
                </a:solidFill>
              </a:rPr>
              <a:t>Add the issues you actually hit during setup, with the fix you verified.</a:t>
            </a:r>
            <a:endParaRPr lang="en-US" sz="1400" dirty="0"/>
          </a:p>
        </p:txBody>
      </p:sp>
      <p:sp>
        <p:nvSpPr>
          <p:cNvPr id="25"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Conclusion</a:t>
            </a:r>
            <a:endParaRPr lang="en-US" sz="3400" dirty="0"/>
          </a:p>
        </p:txBody>
      </p:sp>
      <p:sp>
        <p:nvSpPr>
          <p:cNvPr id="4" name="Card OUTCOME"/>
          <p:cNvSpPr/>
          <p:nvPr/>
        </p:nvSpPr>
        <p:spPr>
          <a:xfrm>
            <a:off x="548640" y="1325880"/>
            <a:ext cx="3931920" cy="1371600"/>
          </a:xfrm>
          <a:prstGeom prst="roundRect">
            <a:avLst>
              <a:gd name="adj" fmla="val 5333"/>
            </a:avLst>
          </a:prstGeom>
          <a:solidFill>
            <a:schemeClr val="bg2"/>
          </a:solidFill>
          <a:ln w="12700">
            <a:solidFill>
              <a:schemeClr val="bg2"/>
            </a:solidFill>
            <a:prstDash val="solid"/>
          </a:ln>
        </p:spPr>
      </p:sp>
      <p:sp>
        <p:nvSpPr>
          <p:cNvPr id="5" name="Card label OUTCOME"/>
          <p:cNvSpPr txBox="1"/>
          <p:nvPr/>
        </p:nvSpPr>
        <p:spPr>
          <a:xfrm>
            <a:off x="777240" y="1508760"/>
            <a:ext cx="347472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OUTCOME</a:t>
            </a:r>
            <a:endParaRPr lang="en-US" sz="1100" dirty="0"/>
          </a:p>
        </p:txBody>
      </p:sp>
      <p:sp>
        <p:nvSpPr>
          <p:cNvPr id="6" name="Card text OUTCOME"/>
          <p:cNvSpPr txBox="1"/>
          <p:nvPr/>
        </p:nvSpPr>
        <p:spPr>
          <a:xfrm>
            <a:off x="777240" y="1783080"/>
            <a:ext cx="3474720" cy="822960"/>
          </a:xfrm>
          <a:prstGeom prst="rect">
            <a:avLst/>
          </a:prstGeom>
          <a:noFill/>
          <a:ln/>
        </p:spPr>
        <p:txBody>
          <a:bodyPr wrap="square" lIns="0" tIns="0" rIns="0" bIns="0" rtlCol="0" anchor="t"/>
          <a:lstStyle/>
          <a:p>
            <a:pPr marL="0" indent="0">
              <a:buNone/>
            </a:pPr>
            <a:r>
              <a:rPr lang="en-US" sz="1400" dirty="0">
                <a:solidFill>
                  <a:schemeClr val="tx1"/>
                </a:solidFill>
              </a:rPr>
              <a:t>One interface for offline capture analysis, rule-based flags and AI-assisted browser automation.</a:t>
            </a:r>
            <a:endParaRPr lang="en-US" sz="1400" dirty="0"/>
          </a:p>
        </p:txBody>
      </p:sp>
      <p:sp>
        <p:nvSpPr>
          <p:cNvPr id="7" name="Card APPLICATIONS"/>
          <p:cNvSpPr/>
          <p:nvPr/>
        </p:nvSpPr>
        <p:spPr>
          <a:xfrm>
            <a:off x="4663440" y="1325880"/>
            <a:ext cx="3931920" cy="1371600"/>
          </a:xfrm>
          <a:prstGeom prst="roundRect">
            <a:avLst>
              <a:gd name="adj" fmla="val 5333"/>
            </a:avLst>
          </a:prstGeom>
          <a:solidFill>
            <a:schemeClr val="bg2"/>
          </a:solidFill>
          <a:ln w="12700">
            <a:solidFill>
              <a:schemeClr val="bg2"/>
            </a:solidFill>
            <a:prstDash val="solid"/>
          </a:ln>
        </p:spPr>
      </p:sp>
      <p:sp>
        <p:nvSpPr>
          <p:cNvPr id="8" name="Card label APPLICATIONS"/>
          <p:cNvSpPr txBox="1"/>
          <p:nvPr/>
        </p:nvSpPr>
        <p:spPr>
          <a:xfrm>
            <a:off x="4892040" y="1508760"/>
            <a:ext cx="347472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APPLICATIONS</a:t>
            </a:r>
            <a:endParaRPr lang="en-US" sz="1100" dirty="0"/>
          </a:p>
        </p:txBody>
      </p:sp>
      <p:sp>
        <p:nvSpPr>
          <p:cNvPr id="9" name="Card text APPLICATIONS"/>
          <p:cNvSpPr txBox="1"/>
          <p:nvPr/>
        </p:nvSpPr>
        <p:spPr>
          <a:xfrm>
            <a:off x="4892040" y="1783080"/>
            <a:ext cx="3474720" cy="822960"/>
          </a:xfrm>
          <a:prstGeom prst="rect">
            <a:avLst/>
          </a:prstGeom>
          <a:noFill/>
          <a:ln/>
        </p:spPr>
        <p:txBody>
          <a:bodyPr wrap="square" lIns="0" tIns="0" rIns="0" bIns="0" rtlCol="0" anchor="t"/>
          <a:lstStyle/>
          <a:p>
            <a:pPr marL="0" indent="0">
              <a:buNone/>
            </a:pPr>
            <a:r>
              <a:rPr lang="en-US" sz="1400" dirty="0">
                <a:solidFill>
                  <a:schemeClr val="tx1"/>
                </a:solidFill>
              </a:rPr>
              <a:t>Learning protocol behaviour, inspecting DNS and endpoints, and troubleshooting traffic.</a:t>
            </a:r>
            <a:endParaRPr lang="en-US" sz="1400" dirty="0"/>
          </a:p>
        </p:txBody>
      </p:sp>
      <p:sp>
        <p:nvSpPr>
          <p:cNvPr id="10" name="Card LIMITATIONS"/>
          <p:cNvSpPr/>
          <p:nvPr/>
        </p:nvSpPr>
        <p:spPr>
          <a:xfrm>
            <a:off x="548640" y="2880360"/>
            <a:ext cx="3931920" cy="1371600"/>
          </a:xfrm>
          <a:prstGeom prst="roundRect">
            <a:avLst>
              <a:gd name="adj" fmla="val 5333"/>
            </a:avLst>
          </a:prstGeom>
          <a:solidFill>
            <a:schemeClr val="bg2"/>
          </a:solidFill>
          <a:ln w="12700">
            <a:solidFill>
              <a:schemeClr val="bg2"/>
            </a:solidFill>
            <a:prstDash val="solid"/>
          </a:ln>
        </p:spPr>
      </p:sp>
      <p:sp>
        <p:nvSpPr>
          <p:cNvPr id="11" name="Card label LIMITATIONS"/>
          <p:cNvSpPr txBox="1"/>
          <p:nvPr/>
        </p:nvSpPr>
        <p:spPr>
          <a:xfrm>
            <a:off x="777240" y="3063240"/>
            <a:ext cx="347472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LIMITATIONS</a:t>
            </a:r>
            <a:endParaRPr lang="en-US" sz="1100" dirty="0"/>
          </a:p>
        </p:txBody>
      </p:sp>
      <p:sp>
        <p:nvSpPr>
          <p:cNvPr id="12" name="Card text LIMITATIONS"/>
          <p:cNvSpPr txBox="1"/>
          <p:nvPr/>
        </p:nvSpPr>
        <p:spPr>
          <a:xfrm>
            <a:off x="777240" y="3337560"/>
            <a:ext cx="3474720" cy="822960"/>
          </a:xfrm>
          <a:prstGeom prst="rect">
            <a:avLst/>
          </a:prstGeom>
          <a:noFill/>
          <a:ln/>
        </p:spPr>
        <p:txBody>
          <a:bodyPr wrap="square" lIns="0" tIns="0" rIns="0" bIns="0" rtlCol="0" anchor="t"/>
          <a:lstStyle/>
          <a:p>
            <a:pPr marL="0" indent="0">
              <a:buNone/>
            </a:pPr>
            <a:r>
              <a:rPr lang="en-US" sz="1400" dirty="0">
                <a:solidFill>
                  <a:schemeClr val="tx1"/>
                </a:solidFill>
              </a:rPr>
              <a:t>TLS payloads stay encrypted, protocol labels are heuristic, and flags are not proof of an attack.</a:t>
            </a:r>
            <a:endParaRPr lang="en-US" sz="1400" dirty="0"/>
          </a:p>
        </p:txBody>
      </p:sp>
      <p:sp>
        <p:nvSpPr>
          <p:cNvPr id="13" name="Card FUTURE SCOPE"/>
          <p:cNvSpPr/>
          <p:nvPr/>
        </p:nvSpPr>
        <p:spPr>
          <a:xfrm>
            <a:off x="4663440" y="2880360"/>
            <a:ext cx="3931920" cy="1371600"/>
          </a:xfrm>
          <a:prstGeom prst="roundRect">
            <a:avLst>
              <a:gd name="adj" fmla="val 5333"/>
            </a:avLst>
          </a:prstGeom>
          <a:solidFill>
            <a:schemeClr val="bg2"/>
          </a:solidFill>
          <a:ln w="12700">
            <a:solidFill>
              <a:schemeClr val="bg2"/>
            </a:solidFill>
            <a:prstDash val="solid"/>
          </a:ln>
        </p:spPr>
      </p:sp>
      <p:sp>
        <p:nvSpPr>
          <p:cNvPr id="14" name="Card label FUTURE SCOPE"/>
          <p:cNvSpPr txBox="1"/>
          <p:nvPr/>
        </p:nvSpPr>
        <p:spPr>
          <a:xfrm>
            <a:off x="4892040" y="3063240"/>
            <a:ext cx="347472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FUTURE SCOPE</a:t>
            </a:r>
            <a:endParaRPr lang="en-US" sz="1100" dirty="0"/>
          </a:p>
        </p:txBody>
      </p:sp>
      <p:sp>
        <p:nvSpPr>
          <p:cNvPr id="15" name="Card text FUTURE SCOPE"/>
          <p:cNvSpPr txBox="1"/>
          <p:nvPr/>
        </p:nvSpPr>
        <p:spPr>
          <a:xfrm>
            <a:off x="4892040" y="3337560"/>
            <a:ext cx="3474720" cy="822960"/>
          </a:xfrm>
          <a:prstGeom prst="rect">
            <a:avLst/>
          </a:prstGeom>
          <a:noFill/>
          <a:ln/>
        </p:spPr>
        <p:txBody>
          <a:bodyPr wrap="square" lIns="0" tIns="0" rIns="0" bIns="0" rtlCol="0" anchor="t"/>
          <a:lstStyle/>
          <a:p>
            <a:pPr marL="0" indent="0">
              <a:buNone/>
            </a:pPr>
            <a:r>
              <a:rPr lang="en-US" sz="1400" dirty="0">
                <a:solidFill>
                  <a:schemeClr val="tx1"/>
                </a:solidFill>
              </a:rPr>
              <a:t>Persistent storage, exportable reports, configurable rules and tests with known PCAP fixtures.</a:t>
            </a:r>
            <a:endParaRPr lang="en-US" sz="1400" dirty="0"/>
          </a:p>
        </p:txBody>
      </p:sp>
      <p:sp>
        <p:nvSpPr>
          <p:cNvPr id="16" name="AI use note"/>
          <p:cNvSpPr txBox="1"/>
          <p:nvPr/>
        </p:nvSpPr>
        <p:spPr>
          <a:xfrm>
            <a:off x="548640" y="4361688"/>
            <a:ext cx="8046720" cy="256032"/>
          </a:xfrm>
          <a:prstGeom prst="rect">
            <a:avLst/>
          </a:prstGeom>
          <a:noFill/>
          <a:ln/>
        </p:spPr>
        <p:txBody>
          <a:bodyPr wrap="square" lIns="0" tIns="0" rIns="0" bIns="0" rtlCol="0" anchor="ctr"/>
          <a:lstStyle/>
          <a:p>
            <a:pPr marL="0" indent="0">
              <a:buNone/>
            </a:pPr>
            <a:r>
              <a:rPr lang="en-US" sz="1200" dirty="0">
                <a:solidFill>
                  <a:schemeClr val="tx2"/>
                </a:solidFill>
              </a:rPr>
              <a:t>AI use: Groq plans browser steps and answers capture questions; outputs are checked against extracted statistics.</a:t>
            </a:r>
            <a:endParaRPr lang="en-US" sz="1200" dirty="0"/>
          </a:p>
        </p:txBody>
      </p:sp>
      <p:sp>
        <p:nvSpPr>
          <p:cNvPr id="25"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References</a:t>
            </a:r>
            <a:endParaRPr lang="en-US" sz="3400" dirty="0"/>
          </a:p>
        </p:txBody>
      </p:sp>
      <p:sp>
        <p:nvSpPr>
          <p:cNvPr id="4" name="Ref badge 1"/>
          <p:cNvSpPr/>
          <p:nvPr/>
        </p:nvSpPr>
        <p:spPr>
          <a:xfrm>
            <a:off x="548640" y="1417320"/>
            <a:ext cx="411480" cy="4114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Ref 1"/>
          <p:cNvSpPr txBox="1"/>
          <p:nvPr/>
        </p:nvSpPr>
        <p:spPr>
          <a:xfrm>
            <a:off x="1188720" y="1371600"/>
            <a:ext cx="7315200" cy="548640"/>
          </a:xfrm>
          <a:prstGeom prst="rect">
            <a:avLst/>
          </a:prstGeom>
          <a:noFill/>
          <a:ln/>
        </p:spPr>
        <p:txBody>
          <a:bodyPr wrap="square" lIns="0" tIns="0" rIns="0" bIns="0" rtlCol="0" anchor="ctr"/>
          <a:lstStyle/>
          <a:p>
            <a:pPr marL="0" indent="0">
              <a:buNone/>
            </a:pPr>
            <a:r>
              <a:rPr lang="en-US" sz="1600" b="1" dirty="0">
                <a:solidFill>
                  <a:schemeClr val="tx1"/>
                </a:solidFill>
              </a:rPr>
              <a:t>Scapy Project, “Scapy Documentation.”</a:t>
            </a:r>
            <a:endParaRPr lang="en-US" sz="1600" dirty="0"/>
          </a:p>
          <a:p>
            <a:pPr marL="0" indent="0">
              <a:buNone/>
            </a:pPr>
            <a:r>
              <a:rPr lang="en-US" sz="1400" dirty="0">
                <a:solidFill>
                  <a:schemeClr val="accent1"/>
                </a:solidFill>
              </a:rPr>
              <a:t>scapy.readthedocs.io</a:t>
            </a:r>
            <a:endParaRPr lang="en-US" sz="1600" dirty="0"/>
          </a:p>
        </p:txBody>
      </p:sp>
      <p:sp>
        <p:nvSpPr>
          <p:cNvPr id="6" name="Ref badge 2"/>
          <p:cNvSpPr/>
          <p:nvPr/>
        </p:nvSpPr>
        <p:spPr>
          <a:xfrm>
            <a:off x="548640" y="2148840"/>
            <a:ext cx="411480" cy="4114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7" name="Ref 2"/>
          <p:cNvSpPr txBox="1"/>
          <p:nvPr/>
        </p:nvSpPr>
        <p:spPr>
          <a:xfrm>
            <a:off x="1188720" y="2103120"/>
            <a:ext cx="7315200" cy="548640"/>
          </a:xfrm>
          <a:prstGeom prst="rect">
            <a:avLst/>
          </a:prstGeom>
          <a:noFill/>
          <a:ln/>
        </p:spPr>
        <p:txBody>
          <a:bodyPr wrap="square" lIns="0" tIns="0" rIns="0" bIns="0" rtlCol="0" anchor="ctr"/>
          <a:lstStyle/>
          <a:p>
            <a:pPr marL="0" indent="0">
              <a:buNone/>
            </a:pPr>
            <a:r>
              <a:rPr lang="en-US" sz="1600" b="1" dirty="0">
                <a:solidFill>
                  <a:schemeClr val="tx1"/>
                </a:solidFill>
              </a:rPr>
              <a:t>FastAPI, “FastAPI Documentation.”</a:t>
            </a:r>
            <a:endParaRPr lang="en-US" sz="1600" dirty="0"/>
          </a:p>
          <a:p>
            <a:pPr marL="0" indent="0">
              <a:buNone/>
            </a:pPr>
            <a:r>
              <a:rPr lang="en-US" sz="1400" dirty="0">
                <a:solidFill>
                  <a:schemeClr val="accent1"/>
                </a:solidFill>
              </a:rPr>
              <a:t>fastapi.tiangolo.com</a:t>
            </a:r>
            <a:endParaRPr lang="en-US" sz="1600" dirty="0"/>
          </a:p>
        </p:txBody>
      </p:sp>
      <p:sp>
        <p:nvSpPr>
          <p:cNvPr id="8" name="Ref badge 3"/>
          <p:cNvSpPr/>
          <p:nvPr/>
        </p:nvSpPr>
        <p:spPr>
          <a:xfrm>
            <a:off x="548640" y="2880360"/>
            <a:ext cx="411480" cy="4114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9" name="Ref 3"/>
          <p:cNvSpPr txBox="1"/>
          <p:nvPr/>
        </p:nvSpPr>
        <p:spPr>
          <a:xfrm>
            <a:off x="1188720" y="2834640"/>
            <a:ext cx="7315200" cy="548640"/>
          </a:xfrm>
          <a:prstGeom prst="rect">
            <a:avLst/>
          </a:prstGeom>
          <a:noFill/>
          <a:ln/>
        </p:spPr>
        <p:txBody>
          <a:bodyPr wrap="square" lIns="0" tIns="0" rIns="0" bIns="0" rtlCol="0" anchor="ctr"/>
          <a:lstStyle/>
          <a:p>
            <a:pPr marL="0" indent="0">
              <a:buNone/>
            </a:pPr>
            <a:r>
              <a:rPr lang="en-US" sz="1600" b="1" dirty="0">
                <a:solidFill>
                  <a:schemeClr val="tx1"/>
                </a:solidFill>
              </a:rPr>
              <a:t>Microsoft, “Playwright Python Documentation.”</a:t>
            </a:r>
            <a:endParaRPr lang="en-US" sz="1600" dirty="0"/>
          </a:p>
          <a:p>
            <a:pPr marL="0" indent="0">
              <a:buNone/>
            </a:pPr>
            <a:r>
              <a:rPr lang="en-US" sz="1400" dirty="0">
                <a:solidFill>
                  <a:schemeClr val="accent1"/>
                </a:solidFill>
              </a:rPr>
              <a:t>playwright.dev/python</a:t>
            </a:r>
            <a:endParaRPr lang="en-US" sz="1600" dirty="0"/>
          </a:p>
        </p:txBody>
      </p:sp>
      <p:sp>
        <p:nvSpPr>
          <p:cNvPr id="10" name="Ref badge 4"/>
          <p:cNvSpPr/>
          <p:nvPr/>
        </p:nvSpPr>
        <p:spPr>
          <a:xfrm>
            <a:off x="548640" y="3611880"/>
            <a:ext cx="411480" cy="4114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1" name="Ref 4"/>
          <p:cNvSpPr txBox="1"/>
          <p:nvPr/>
        </p:nvSpPr>
        <p:spPr>
          <a:xfrm>
            <a:off x="1188720" y="3566160"/>
            <a:ext cx="7315200" cy="548640"/>
          </a:xfrm>
          <a:prstGeom prst="rect">
            <a:avLst/>
          </a:prstGeom>
          <a:noFill/>
          <a:ln/>
        </p:spPr>
        <p:txBody>
          <a:bodyPr wrap="square" lIns="0" tIns="0" rIns="0" bIns="0" rtlCol="0" anchor="ctr"/>
          <a:lstStyle/>
          <a:p>
            <a:pPr marL="0" indent="0">
              <a:buNone/>
            </a:pPr>
            <a:r>
              <a:rPr lang="en-US" sz="1600" b="1" dirty="0">
                <a:solidFill>
                  <a:schemeClr val="tx1"/>
                </a:solidFill>
              </a:rPr>
              <a:t>Groq, “Groq API Documentation.”</a:t>
            </a:r>
            <a:endParaRPr lang="en-US" sz="1600" dirty="0"/>
          </a:p>
          <a:p>
            <a:pPr marL="0" indent="0">
              <a:buNone/>
            </a:pPr>
            <a:r>
              <a:rPr lang="en-US" sz="1400" dirty="0">
                <a:solidFill>
                  <a:schemeClr val="accent1"/>
                </a:solidFill>
              </a:rPr>
              <a:t>console.groq.com/docs</a:t>
            </a:r>
            <a:endParaRPr lang="en-US" sz="1600" dirty="0"/>
          </a:p>
        </p:txBody>
      </p:sp>
      <p:sp>
        <p:nvSpPr>
          <p:cNvPr id="25" name="Slide Number Placeholder 0"/>
          <p:cNvSpPr>
            <a:spLocks noGrp="1"/>
          </p:cNvSpPr>
          <p:nvPr>
            <p:ph type="sldNum" sz="quarter" idx="4294967295"/>
          </p:nvPr>
        </p:nvSpPr>
        <p:spPr>
          <a:xfrm>
            <a:off x="7680960" y="4736592"/>
            <a:ext cx="9144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Nethryx Minimal">
  <a:themeElements>
    <a:clrScheme name="Nethryx Minimal">
      <a:dk1>
        <a:srgbClr val="1F2933"/>
      </a:dk1>
      <a:lt1>
        <a:srgbClr val="FFFFFF"/>
      </a:lt1>
      <a:dk2>
        <a:srgbClr val="667085"/>
      </a:dk2>
      <a:lt2>
        <a:srgbClr val="F2F5F7"/>
      </a:lt2>
      <a:accent1>
        <a:srgbClr val="0E7490"/>
      </a:accent1>
      <a:accent2>
        <a:srgbClr val="94A3B8"/>
      </a:accent2>
      <a:accent3>
        <a:srgbClr val="D5DEE5"/>
      </a:accent3>
      <a:accent4>
        <a:srgbClr val="475467"/>
      </a:accent4>
      <a:accent5>
        <a:srgbClr val="67A9BC"/>
      </a:accent5>
      <a:accent6>
        <a:srgbClr val="CBD5E1"/>
      </a:accent6>
      <a:hlink>
        <a:srgbClr val="0E7490"/>
      </a:hlink>
      <a:folHlink>
        <a:srgbClr val="667085"/>
      </a:folHlink>
    </a:clrScheme>
    <a:fontScheme name="Nethryx Minim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1521</Words>
  <Application>Microsoft Office PowerPoint</Application>
  <PresentationFormat>On-screen Show (16:9)</PresentationFormat>
  <Paragraphs>234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Nethryx Minimal</vt:lpstr>
      <vt:lpstr>PowerPoint Presentation</vt:lpstr>
      <vt:lpstr>Nethryx at a glance</vt:lpstr>
      <vt:lpstr>Problem and objectives</vt:lpstr>
      <vt:lpstr>Scope and boundaries</vt:lpstr>
      <vt:lpstr>System architecture</vt:lpstr>
      <vt:lpstr>Tools and protocols</vt:lpstr>
      <vt:lpstr>How it works</vt:lpstr>
      <vt:lpstr>Running Nethryx</vt:lpstr>
      <vt:lpstr>What it reports</vt:lpstr>
      <vt:lpstr>Testing and results</vt:lpstr>
      <vt:lpstr>Live demonstration</vt:lpstr>
      <vt:lpstr>Troubleshooting</vt:lpstr>
      <vt:lpstr>Conclusion</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Nethryx – Network Packet Analyzer Dashboard</dc:title>
  <dc:subject>PptxGenJS Presentation</dc:subject>
  <dc:creator>Group 5, Panel E, Batch E1</dc:creator>
  <cp:lastModifiedBy>Krish Bhensdadiya</cp:lastModifiedBy>
  <cp:revision>3</cp:revision>
  <dcterms:created xsi:type="dcterms:W3CDTF">2026-10-22T17:09:03Z</dcterms:created>
  <dcterms:modified xsi:type="dcterms:W3CDTF">2026-10-22T17:42:45Z</dcterms:modified>
</cp:coreProperties>
</file>